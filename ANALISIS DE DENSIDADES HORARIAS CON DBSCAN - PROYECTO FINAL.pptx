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797675" cy="9926638"/>
  <p:embeddedFontLst>
    <p:embeddedFont>
      <p:font typeface="Arial Black" panose="020B0A04020102020204" pitchFamily="34" charset="0"/>
      <p:regular r:id="rId25"/>
      <p:bold r:id="rId26"/>
    </p:embeddedFont>
    <p:embeddedFont>
      <p:font typeface="Trebuchet MS" panose="020B060302020202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ggLO7Q51U3RN8MldN9XsWoMcai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4660"/>
  </p:normalViewPr>
  <p:slideViewPr>
    <p:cSldViewPr snapToGrid="0">
      <p:cViewPr varScale="1">
        <p:scale>
          <a:sx n="75" d="100"/>
          <a:sy n="75" d="100"/>
        </p:scale>
        <p:origin x="912" y="43"/>
      </p:cViewPr>
      <p:guideLst>
        <p:guide orient="horz" pos="2160"/>
        <p:guide pos="3840"/>
      </p:guideLst>
    </p:cSldViewPr>
  </p:slideViewPr>
  <p:notesTextViewPr>
    <p:cViewPr>
      <p:scale>
        <a:sx n="1" d="1"/>
        <a:sy n="1" d="1"/>
      </p:scale>
      <p:origin x="0" y="0"/>
    </p:cViewPr>
  </p:notesTextViewPr>
  <p:sorterViewPr>
    <p:cViewPr>
      <p:scale>
        <a:sx n="126" d="100"/>
        <a:sy n="12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68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68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688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6888"/>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PE"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 name="Google Shape;44;p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 name="Google Shape;58;p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44e738a562_0_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 name="Google Shape;73;g344e738a562_0_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3:notes"/>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6f85b4a08f_5_1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g36f85b4a08f_5_1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6f85b4a08f_5_3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g36f85b4a08f_5_3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6f85b4a08f_0_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g36f85b4a08f_0_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6f85b4a08f_0_2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g36f85b4a08f_0_2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6f85b4a08f_0_4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g36f85b4a08f_0_4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6f85b4a08f_0_6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g36f85b4a08f_0_6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6f85b4a08f_0_8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g36f85b4a08f_0_8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4:notes"/>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44e6fef586_0_9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g344e6fef586_0_9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44e6fef586_0_8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g344e6fef586_0_8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6f8acf88af_0_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g36f8acf88af_0_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44e6fef586_0_1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g344e6fef586_0_1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44e6fef586_0_2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g344e6fef586_0_2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44e6fef586_0_4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8" name="Google Shape;308;g344e6fef586_0_4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44e6fef586_0_6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g344e6fef586_0_6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6:notes"/>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7264e0fb3e_0_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g37264e0fb3e_0_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7264e0fb3e_0_27: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g37264e0fb3e_0_2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g166cf398b2f_0_4"/>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15" name="Google Shape;15;g166cf398b2f_0_4"/>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6" name="Google Shape;16;g166cf398b2f_0_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
        <p:cNvGrpSpPr/>
        <p:nvPr/>
      </p:nvGrpSpPr>
      <p:grpSpPr>
        <a:xfrm>
          <a:off x="0" y="0"/>
          <a:ext cx="0" cy="0"/>
          <a:chOff x="0" y="0"/>
          <a:chExt cx="0" cy="0"/>
        </a:xfrm>
      </p:grpSpPr>
      <p:sp>
        <p:nvSpPr>
          <p:cNvPr id="18" name="Google Shape;18;g166cf398b2f_0_2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9" name="Google Shape;19;g166cf398b2f_0_2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
        <p:cNvGrpSpPr/>
        <p:nvPr/>
      </p:nvGrpSpPr>
      <p:grpSpPr>
        <a:xfrm>
          <a:off x="0" y="0"/>
          <a:ext cx="0" cy="0"/>
          <a:chOff x="0" y="0"/>
          <a:chExt cx="0" cy="0"/>
        </a:xfrm>
      </p:grpSpPr>
      <p:sp>
        <p:nvSpPr>
          <p:cNvPr id="21" name="Google Shape;21;g166cf398b2f_0_23"/>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22" name="Google Shape;22;g166cf398b2f_0_23"/>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23" name="Google Shape;23;g166cf398b2f_0_2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4"/>
        <p:cNvGrpSpPr/>
        <p:nvPr/>
      </p:nvGrpSpPr>
      <p:grpSpPr>
        <a:xfrm>
          <a:off x="0" y="0"/>
          <a:ext cx="0" cy="0"/>
          <a:chOff x="0" y="0"/>
          <a:chExt cx="0" cy="0"/>
        </a:xfrm>
      </p:grpSpPr>
      <p:sp>
        <p:nvSpPr>
          <p:cNvPr id="25" name="Google Shape;25;g166cf398b2f_0_27"/>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26" name="Google Shape;26;g166cf398b2f_0_2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g166cf398b2f_0_30"/>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g166cf398b2f_0_30"/>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30" name="Google Shape;30;g166cf398b2f_0_30"/>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1" name="Google Shape;31;g166cf398b2f_0_30"/>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32" name="Google Shape;32;g166cf398b2f_0_3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
        <p:cNvGrpSpPr/>
        <p:nvPr/>
      </p:nvGrpSpPr>
      <p:grpSpPr>
        <a:xfrm>
          <a:off x="0" y="0"/>
          <a:ext cx="0" cy="0"/>
          <a:chOff x="0" y="0"/>
          <a:chExt cx="0" cy="0"/>
        </a:xfrm>
      </p:grpSpPr>
      <p:sp>
        <p:nvSpPr>
          <p:cNvPr id="34" name="Google Shape;34;g166cf398b2f_0_36"/>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35" name="Google Shape;35;g166cf398b2f_0_3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6"/>
        <p:cNvGrpSpPr/>
        <p:nvPr/>
      </p:nvGrpSpPr>
      <p:grpSpPr>
        <a:xfrm>
          <a:off x="0" y="0"/>
          <a:ext cx="0" cy="0"/>
          <a:chOff x="0" y="0"/>
          <a:chExt cx="0" cy="0"/>
        </a:xfrm>
      </p:grpSpPr>
      <p:sp>
        <p:nvSpPr>
          <p:cNvPr id="37" name="Google Shape;37;g166cf398b2f_0_39"/>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38" name="Google Shape;38;g166cf398b2f_0_39"/>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39" name="Google Shape;39;g166cf398b2f_0_39"/>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
        <p:cNvGrpSpPr/>
        <p:nvPr/>
      </p:nvGrpSpPr>
      <p:grpSpPr>
        <a:xfrm>
          <a:off x="0" y="0"/>
          <a:ext cx="0" cy="0"/>
          <a:chOff x="0" y="0"/>
          <a:chExt cx="0" cy="0"/>
        </a:xfrm>
      </p:grpSpPr>
      <p:sp>
        <p:nvSpPr>
          <p:cNvPr id="41" name="Google Shape;41;g166cf398b2f_0_4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g166cf398b2f_0_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
        <p:nvSpPr>
          <p:cNvPr id="11" name="Google Shape;11;g166cf398b2f_0_0"/>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914400" marR="0" lvl="1"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2pPr>
            <a:lvl3pPr marL="1371600" marR="0" lvl="2"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3pPr>
            <a:lvl4pPr marL="1828800" marR="0" lvl="3"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4pPr>
            <a:lvl5pPr marL="2286000" marR="0" lvl="4"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5pPr>
            <a:lvl6pPr marL="2743200" marR="0" lvl="5"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6pPr>
            <a:lvl7pPr marL="3200400" marR="0" lvl="6"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7pPr>
            <a:lvl8pPr marL="3657600" marR="0" lvl="7"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8pPr>
            <a:lvl9pPr marL="4114800" marR="0" lvl="8"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9pPr>
          </a:lstStyle>
          <a:p>
            <a:endParaRPr/>
          </a:p>
        </p:txBody>
      </p:sp>
      <p:sp>
        <p:nvSpPr>
          <p:cNvPr id="12" name="Google Shape;12;g166cf398b2f_0_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PE"/>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hyperlink" Target="https://app.knovel.com/hotlink/toc/id:kpBDCTA001/big-data-concepts-technology/big-data-concepts-technology" TargetMode="External"/><Relationship Id="rId3" Type="http://schemas.openxmlformats.org/officeDocument/2006/relationships/hyperlink" Target="https://spada.uns.ac.id/pluginfile.php/510378/mod_resource/content/1/creswell.pdf" TargetMode="External"/><Relationship Id="rId7" Type="http://schemas.openxmlformats.org/officeDocument/2006/relationships/hyperlink" Target="https://doi.org/10.1371/journal.pone.0293662"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www.researchgate.net/publication/263046108_A_Playbook_for_Research_Methods_Integrating_Conceptual_Frameworks_and_Project_Management" TargetMode="External"/><Relationship Id="rId5" Type="http://schemas.openxmlformats.org/officeDocument/2006/relationships/hyperlink" Target="https://us.sagepub.com/en-us/sam/introduction-to-social-research/book237782" TargetMode="External"/><Relationship Id="rId10" Type="http://schemas.openxmlformats.org/officeDocument/2006/relationships/image" Target="../media/image2.png"/><Relationship Id="rId4" Type="http://schemas.openxmlformats.org/officeDocument/2006/relationships/hyperlink" Target="https://doi.org/10.4324/9780429203374" TargetMode="External"/><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hyperlink" Target="https://doi.org/10.1145/1497577.1497578" TargetMode="External"/><Relationship Id="rId3" Type="http://schemas.openxmlformats.org/officeDocument/2006/relationships/hyperlink" Target="https://doi.org/10.1016/j.jclepro.2023.137373" TargetMode="External"/><Relationship Id="rId7" Type="http://schemas.openxmlformats.org/officeDocument/2006/relationships/hyperlink" Target="https://dl.acm.org/doi/10.5555/3001460.3001507"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dx.doi.org/10.17268/rev.cyt.2024.02.01" TargetMode="External"/><Relationship Id="rId5" Type="http://schemas.openxmlformats.org/officeDocument/2006/relationships/hyperlink" Target="https://doi.org/10.1109/ISCTT51595.2020.00083" TargetMode="External"/><Relationship Id="rId10" Type="http://schemas.openxmlformats.org/officeDocument/2006/relationships/image" Target="../media/image2.png"/><Relationship Id="rId4" Type="http://schemas.openxmlformats.org/officeDocument/2006/relationships/hyperlink" Target="https://doi.org/10.1016/j.tra.2020.04.017" TargetMode="External"/><Relationship Id="rId9" Type="http://schemas.openxmlformats.org/officeDocument/2006/relationships/image" Target="../media/image1.png"/></Relationships>
</file>

<file path=ppt/slides/_rels/slide22.xml.rels><?xml version="1.0" encoding="UTF-8" standalone="yes"?>
<Relationships xmlns="http://schemas.openxmlformats.org/package/2006/relationships"><Relationship Id="rId8" Type="http://schemas.openxmlformats.org/officeDocument/2006/relationships/hyperlink" Target="https://acc.org.co/publicaciones/func-startdown/5/" TargetMode="External"/><Relationship Id="rId3" Type="http://schemas.openxmlformats.org/officeDocument/2006/relationships/hyperlink" Target="http://hdl.handle.net/10757/660720" TargetMode="External"/><Relationship Id="rId7" Type="http://schemas.openxmlformats.org/officeDocument/2006/relationships/hyperlink" Target="https://rosap.ntl.bts.gov/view/dot/78044" TargetMode="External"/><Relationship Id="rId12"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crashstats.nhtsa.dot.gov/Api/Public/Publication/813592" TargetMode="External"/><Relationship Id="rId11" Type="http://schemas.openxmlformats.org/officeDocument/2006/relationships/image" Target="../media/image1.png"/><Relationship Id="rId5" Type="http://schemas.openxmlformats.org/officeDocument/2006/relationships/hyperlink" Target="https://doi.org/10.1109/SCEECS48394.2020.190" TargetMode="External"/><Relationship Id="rId10" Type="http://schemas.openxmlformats.org/officeDocument/2006/relationships/hyperlink" Target="https://doi.org/10.2478/ttj-2014-0020" TargetMode="External"/><Relationship Id="rId4" Type="http://schemas.openxmlformats.org/officeDocument/2006/relationships/hyperlink" Target="https://doi.org/10.37811/cl_rcm.v8i2.10592" TargetMode="External"/><Relationship Id="rId9" Type="http://schemas.openxmlformats.org/officeDocument/2006/relationships/hyperlink" Target="http://hdl.handle.net/10481/2440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pic>
        <p:nvPicPr>
          <p:cNvPr id="46" name="Google Shape;46;p1"/>
          <p:cNvPicPr preferRelativeResize="0"/>
          <p:nvPr/>
        </p:nvPicPr>
        <p:blipFill rotWithShape="1">
          <a:blip r:embed="rId3">
            <a:alphaModFix/>
          </a:blip>
          <a:srcRect b="61363"/>
          <a:stretch>
            <a:fillRect/>
          </a:stretch>
        </p:blipFill>
        <p:spPr>
          <a:xfrm>
            <a:off x="163690" y="460096"/>
            <a:ext cx="6011326" cy="580882"/>
          </a:xfrm>
          <a:prstGeom prst="rect">
            <a:avLst/>
          </a:prstGeom>
          <a:noFill/>
          <a:ln>
            <a:noFill/>
          </a:ln>
        </p:spPr>
      </p:pic>
      <p:sp>
        <p:nvSpPr>
          <p:cNvPr id="47" name="Google Shape;47;p1"/>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48" name="Google Shape;48;p1"/>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1</a:t>
            </a:fld>
            <a:endParaRPr/>
          </a:p>
        </p:txBody>
      </p:sp>
      <p:sp>
        <p:nvSpPr>
          <p:cNvPr id="49" name="Google Shape;49;p1"/>
          <p:cNvSpPr txBox="1">
            <a:spLocks noGrp="1"/>
          </p:cNvSpPr>
          <p:nvPr>
            <p:ph type="subTitle" idx="1"/>
          </p:nvPr>
        </p:nvSpPr>
        <p:spPr>
          <a:xfrm>
            <a:off x="655370" y="2474655"/>
            <a:ext cx="10881010" cy="3827484"/>
          </a:xfrm>
          <a:prstGeom prst="rect">
            <a:avLst/>
          </a:prstGeom>
          <a:noFill/>
          <a:ln>
            <a:noFill/>
          </a:ln>
        </p:spPr>
        <p:txBody>
          <a:bodyPr spcFirstLastPara="1" wrap="square" lIns="121900" tIns="121900" rIns="121900" bIns="121900" anchor="t" anchorCtr="0">
            <a:normAutofit/>
          </a:bodyPr>
          <a:lstStyle/>
          <a:p>
            <a:pPr marL="0" lvl="0" indent="0" algn="ctr" rtl="0">
              <a:lnSpc>
                <a:spcPct val="100000"/>
              </a:lnSpc>
              <a:spcBef>
                <a:spcPts val="0"/>
              </a:spcBef>
              <a:spcAft>
                <a:spcPts val="0"/>
              </a:spcAft>
              <a:buSzPct val="166666"/>
              <a:buNone/>
            </a:pPr>
            <a:r>
              <a:rPr lang="es-PE" sz="2400" b="1" dirty="0">
                <a:solidFill>
                  <a:schemeClr val="dk1"/>
                </a:solidFill>
                <a:latin typeface="Times New Roman"/>
                <a:ea typeface="Times New Roman"/>
                <a:cs typeface="Times New Roman"/>
                <a:sym typeface="Times New Roman"/>
              </a:rPr>
              <a:t>AUTOR(ES):</a:t>
            </a:r>
            <a:endParaRPr dirty="0"/>
          </a:p>
          <a:p>
            <a:pPr marL="180340" lvl="0" indent="0" algn="ctr" rtl="0">
              <a:lnSpc>
                <a:spcPct val="107916"/>
              </a:lnSpc>
              <a:spcBef>
                <a:spcPts val="0"/>
              </a:spcBef>
              <a:spcAft>
                <a:spcPts val="0"/>
              </a:spcAft>
              <a:buClr>
                <a:schemeClr val="dk1"/>
              </a:buClr>
              <a:buSzPct val="44897"/>
              <a:buFont typeface="Arial"/>
              <a:buNone/>
            </a:pPr>
            <a:r>
              <a:rPr lang="es-PE" sz="2450" dirty="0">
                <a:solidFill>
                  <a:schemeClr val="dk1"/>
                </a:solidFill>
                <a:latin typeface="Times New Roman"/>
                <a:ea typeface="Times New Roman"/>
                <a:cs typeface="Times New Roman"/>
                <a:sym typeface="Times New Roman"/>
              </a:rPr>
              <a:t>RAMIREZ BAUTISTA, NIK DENILSON.</a:t>
            </a:r>
          </a:p>
          <a:p>
            <a:pPr marL="180340" lvl="0" indent="0" algn="ctr" rtl="0">
              <a:lnSpc>
                <a:spcPct val="107916"/>
              </a:lnSpc>
              <a:spcBef>
                <a:spcPts val="0"/>
              </a:spcBef>
              <a:spcAft>
                <a:spcPts val="0"/>
              </a:spcAft>
              <a:buClr>
                <a:schemeClr val="dk1"/>
              </a:buClr>
              <a:buSzPct val="44897"/>
              <a:buFont typeface="Arial"/>
              <a:buNone/>
            </a:pPr>
            <a:r>
              <a:rPr lang="es-PE" sz="2450" dirty="0">
                <a:solidFill>
                  <a:schemeClr val="dk1"/>
                </a:solidFill>
                <a:latin typeface="Times New Roman"/>
                <a:ea typeface="Times New Roman"/>
                <a:cs typeface="Times New Roman"/>
                <a:sym typeface="Times New Roman"/>
              </a:rPr>
              <a:t>AUMA PEREZ, CARLOS ALBERTO.</a:t>
            </a:r>
          </a:p>
          <a:p>
            <a:pPr marL="180340" lvl="0" indent="0" algn="ctr" rtl="0">
              <a:lnSpc>
                <a:spcPct val="107916"/>
              </a:lnSpc>
              <a:spcBef>
                <a:spcPts val="0"/>
              </a:spcBef>
              <a:spcAft>
                <a:spcPts val="0"/>
              </a:spcAft>
              <a:buClr>
                <a:schemeClr val="dk1"/>
              </a:buClr>
              <a:buSzPct val="44897"/>
              <a:buFont typeface="Arial"/>
              <a:buNone/>
            </a:pPr>
            <a:r>
              <a:rPr lang="es-PE" sz="2450" dirty="0">
                <a:solidFill>
                  <a:schemeClr val="dk1"/>
                </a:solidFill>
                <a:latin typeface="Times New Roman"/>
                <a:ea typeface="Times New Roman"/>
                <a:cs typeface="Times New Roman"/>
                <a:sym typeface="Times New Roman"/>
              </a:rPr>
              <a:t>CONDORI JANAMPA, STEVEN.</a:t>
            </a:r>
          </a:p>
          <a:p>
            <a:pPr marL="180340" lvl="0" indent="0" algn="ctr" rtl="0">
              <a:lnSpc>
                <a:spcPct val="107916"/>
              </a:lnSpc>
              <a:spcBef>
                <a:spcPts val="0"/>
              </a:spcBef>
              <a:spcAft>
                <a:spcPts val="0"/>
              </a:spcAft>
              <a:buClr>
                <a:schemeClr val="dk1"/>
              </a:buClr>
              <a:buSzPct val="44897"/>
              <a:buFont typeface="Arial"/>
              <a:buNone/>
            </a:pPr>
            <a:r>
              <a:rPr lang="es-PE" sz="2450" dirty="0">
                <a:solidFill>
                  <a:schemeClr val="dk1"/>
                </a:solidFill>
                <a:latin typeface="Times New Roman"/>
                <a:ea typeface="Times New Roman"/>
                <a:cs typeface="Times New Roman"/>
                <a:sym typeface="Times New Roman"/>
              </a:rPr>
              <a:t>RENE REYES, AMESQUITA.</a:t>
            </a:r>
          </a:p>
          <a:p>
            <a:pPr marL="0" lvl="0" indent="0" algn="ctr" rtl="0">
              <a:lnSpc>
                <a:spcPct val="100000"/>
              </a:lnSpc>
              <a:spcBef>
                <a:spcPts val="0"/>
              </a:spcBef>
              <a:spcAft>
                <a:spcPts val="0"/>
              </a:spcAft>
              <a:buSzPct val="166666"/>
              <a:buNone/>
            </a:pPr>
            <a:r>
              <a:rPr lang="es-PE" sz="2400" b="1" dirty="0">
                <a:solidFill>
                  <a:schemeClr val="dk1"/>
                </a:solidFill>
                <a:latin typeface="Times New Roman"/>
                <a:ea typeface="Times New Roman"/>
                <a:cs typeface="Times New Roman"/>
                <a:sym typeface="Times New Roman"/>
              </a:rPr>
              <a:t>DOCENTE:</a:t>
            </a:r>
            <a:endParaRPr dirty="0"/>
          </a:p>
          <a:p>
            <a:pPr marL="0" lvl="0" indent="0" algn="ctr" rtl="0">
              <a:lnSpc>
                <a:spcPct val="100000"/>
              </a:lnSpc>
              <a:spcBef>
                <a:spcPts val="0"/>
              </a:spcBef>
              <a:spcAft>
                <a:spcPts val="0"/>
              </a:spcAft>
              <a:buSzPct val="166666"/>
              <a:buNone/>
            </a:pPr>
            <a:r>
              <a:rPr lang="es-ES" sz="2400" dirty="0">
                <a:solidFill>
                  <a:schemeClr val="dk1"/>
                </a:solidFill>
                <a:latin typeface="Times New Roman"/>
                <a:ea typeface="Times New Roman"/>
                <a:cs typeface="Times New Roman"/>
                <a:sym typeface="Times New Roman"/>
              </a:rPr>
              <a:t>JUAN HERNADEZ PEREZ</a:t>
            </a:r>
            <a:endParaRPr sz="2400"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SzPct val="166666"/>
              <a:buNone/>
            </a:pPr>
            <a:r>
              <a:rPr lang="es-PE" sz="2400" b="1" dirty="0">
                <a:solidFill>
                  <a:schemeClr val="dk1"/>
                </a:solidFill>
                <a:latin typeface="Times New Roman"/>
                <a:ea typeface="Times New Roman"/>
                <a:cs typeface="Times New Roman"/>
                <a:sym typeface="Times New Roman"/>
              </a:rPr>
              <a:t>CURSO</a:t>
            </a:r>
            <a:endParaRPr dirty="0"/>
          </a:p>
          <a:p>
            <a:pPr marL="0" indent="0">
              <a:lnSpc>
                <a:spcPct val="110000"/>
              </a:lnSpc>
              <a:buSzPct val="166666"/>
            </a:pPr>
            <a:r>
              <a:rPr lang="es-ES" sz="2400" dirty="0">
                <a:solidFill>
                  <a:schemeClr val="dk1"/>
                </a:solidFill>
                <a:latin typeface="Times New Roman"/>
                <a:cs typeface="Times New Roman"/>
              </a:rPr>
              <a:t>INTILIGENCIA ARTIFICIAL Y SISTEMAS EXPERTOS</a:t>
            </a:r>
            <a:endParaRPr sz="2400" dirty="0">
              <a:solidFill>
                <a:schemeClr val="dk1"/>
              </a:solidFill>
              <a:latin typeface="Times New Roman"/>
              <a:cs typeface="Times New Roman"/>
            </a:endParaRPr>
          </a:p>
        </p:txBody>
      </p:sp>
      <p:grpSp>
        <p:nvGrpSpPr>
          <p:cNvPr id="50" name="Google Shape;50;p1"/>
          <p:cNvGrpSpPr/>
          <p:nvPr/>
        </p:nvGrpSpPr>
        <p:grpSpPr>
          <a:xfrm>
            <a:off x="8441327" y="157015"/>
            <a:ext cx="3586983" cy="1393378"/>
            <a:chOff x="8604892" y="0"/>
            <a:chExt cx="3586983" cy="1393378"/>
          </a:xfrm>
        </p:grpSpPr>
        <p:sp>
          <p:nvSpPr>
            <p:cNvPr id="51" name="Google Shape;51;p1"/>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a:solidFill>
                    <a:schemeClr val="dk1"/>
                  </a:solidFill>
                  <a:latin typeface="Trebuchet MS"/>
                  <a:ea typeface="Trebuchet MS"/>
                  <a:cs typeface="Trebuchet MS"/>
                  <a:sym typeface="Trebuchet MS"/>
                </a:rPr>
                <a:t>UNIVERSIDAD NACIONAL</a:t>
              </a:r>
              <a:endParaRPr sz="11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a:solidFill>
                    <a:schemeClr val="dk1"/>
                  </a:solidFill>
                  <a:latin typeface="Trebuchet MS"/>
                  <a:ea typeface="Trebuchet MS"/>
                  <a:cs typeface="Trebuchet MS"/>
                  <a:sym typeface="Trebuchet MS"/>
                </a:rPr>
                <a:t> DE CAÑETE</a:t>
              </a:r>
              <a:endParaRPr sz="11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a:solidFill>
                    <a:schemeClr val="dk1"/>
                  </a:solidFill>
                  <a:latin typeface="Trebuchet MS"/>
                  <a:ea typeface="Trebuchet MS"/>
                  <a:cs typeface="Trebuchet MS"/>
                  <a:sym typeface="Trebuchet MS"/>
                </a:rPr>
                <a:t>Código: </a:t>
              </a:r>
              <a:r>
                <a:rPr lang="es-PE" sz="1050" b="0" i="0" u="none" strike="noStrike" cap="none">
                  <a:solidFill>
                    <a:schemeClr val="dk1"/>
                  </a:solidFill>
                  <a:latin typeface="Trebuchet MS"/>
                  <a:ea typeface="Trebuchet MS"/>
                  <a:cs typeface="Trebuchet MS"/>
                  <a:sym typeface="Trebuchet MS"/>
                </a:rPr>
                <a:t>F-M01.01-VRA-008</a:t>
              </a:r>
              <a:endParaRPr sz="1050" b="0" i="0" u="none" strike="noStrike" cap="none">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a:solidFill>
                    <a:schemeClr val="dk1"/>
                  </a:solidFill>
                  <a:latin typeface="Trebuchet MS"/>
                  <a:ea typeface="Trebuchet MS"/>
                  <a:cs typeface="Trebuchet MS"/>
                  <a:sym typeface="Trebuchet MS"/>
                </a:rPr>
                <a:t>Revisión: </a:t>
              </a:r>
              <a:r>
                <a:rPr lang="es-PE" sz="1050" b="0" i="0" u="none" strike="noStrike" cap="none">
                  <a:solidFill>
                    <a:schemeClr val="dk1"/>
                  </a:solidFill>
                  <a:latin typeface="Trebuchet MS"/>
                  <a:ea typeface="Trebuchet MS"/>
                  <a:cs typeface="Trebuchet MS"/>
                  <a:sym typeface="Trebuchet MS"/>
                </a:rPr>
                <a:t>02</a:t>
              </a:r>
              <a:endParaRPr sz="1050" b="0" i="0" u="none" strike="noStrike" cap="none">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a:solidFill>
                    <a:schemeClr val="dk1"/>
                  </a:solidFill>
                  <a:latin typeface="Trebuchet MS"/>
                  <a:ea typeface="Trebuchet MS"/>
                  <a:cs typeface="Trebuchet MS"/>
                  <a:sym typeface="Trebuchet MS"/>
                </a:rPr>
                <a:t>Fecha de aprobación: </a:t>
              </a:r>
              <a:r>
                <a:rPr lang="es-PE" sz="1050" b="0" i="0" u="none" strike="noStrike" cap="none">
                  <a:solidFill>
                    <a:schemeClr val="dk1"/>
                  </a:solidFill>
                  <a:latin typeface="Trebuchet MS"/>
                  <a:ea typeface="Trebuchet MS"/>
                  <a:cs typeface="Trebuchet MS"/>
                  <a:sym typeface="Trebuchet MS"/>
                </a:rPr>
                <a:t>22/03/2022</a:t>
              </a:r>
              <a:endParaRPr sz="1100" b="0" i="0" u="none" strike="noStrike" cap="none">
                <a:solidFill>
                  <a:schemeClr val="dk1"/>
                </a:solidFill>
                <a:latin typeface="Trebuchet MS"/>
                <a:ea typeface="Trebuchet MS"/>
                <a:cs typeface="Trebuchet MS"/>
                <a:sym typeface="Trebuchet MS"/>
              </a:endParaRPr>
            </a:p>
          </p:txBody>
        </p:sp>
        <p:grpSp>
          <p:nvGrpSpPr>
            <p:cNvPr id="52" name="Google Shape;52;p1"/>
            <p:cNvGrpSpPr/>
            <p:nvPr/>
          </p:nvGrpSpPr>
          <p:grpSpPr>
            <a:xfrm>
              <a:off x="8604892" y="0"/>
              <a:ext cx="997308" cy="1069887"/>
              <a:chOff x="8604892" y="0"/>
              <a:chExt cx="997308" cy="1069887"/>
            </a:xfrm>
          </p:grpSpPr>
          <p:pic>
            <p:nvPicPr>
              <p:cNvPr id="53" name="Google Shape;53;p1"/>
              <p:cNvPicPr preferRelativeResize="0"/>
              <p:nvPr/>
            </p:nvPicPr>
            <p:blipFill rotWithShape="1">
              <a:blip r:embed="rId4">
                <a:alphaModFix/>
              </a:blip>
              <a:srcRect/>
              <a:stretch/>
            </p:blipFill>
            <p:spPr>
              <a:xfrm>
                <a:off x="8604892" y="115678"/>
                <a:ext cx="887608" cy="954209"/>
              </a:xfrm>
              <a:prstGeom prst="rect">
                <a:avLst/>
              </a:prstGeom>
              <a:noFill/>
              <a:ln>
                <a:noFill/>
              </a:ln>
            </p:spPr>
          </p:pic>
          <p:cxnSp>
            <p:nvCxnSpPr>
              <p:cNvPr id="54" name="Google Shape;54;p1"/>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
        <p:nvSpPr>
          <p:cNvPr id="55" name="Google Shape;55;p1"/>
          <p:cNvSpPr txBox="1"/>
          <p:nvPr/>
        </p:nvSpPr>
        <p:spPr>
          <a:xfrm>
            <a:off x="655370" y="1435935"/>
            <a:ext cx="10322017" cy="1038720"/>
          </a:xfrm>
          <a:prstGeom prst="rect">
            <a:avLst/>
          </a:prstGeom>
          <a:noFill/>
          <a:ln>
            <a:noFill/>
          </a:ln>
        </p:spPr>
        <p:txBody>
          <a:bodyPr spcFirstLastPara="1" wrap="square" lIns="121900" tIns="121900" rIns="121900" bIns="121900" anchor="b" anchorCtr="0">
            <a:noAutofit/>
          </a:bodyPr>
          <a:lstStyle/>
          <a:p>
            <a:pPr marL="0" marR="0" lvl="0" indent="0" algn="ctr" rtl="0">
              <a:lnSpc>
                <a:spcPct val="80000"/>
              </a:lnSpc>
              <a:spcBef>
                <a:spcPts val="0"/>
              </a:spcBef>
              <a:spcAft>
                <a:spcPts val="0"/>
              </a:spcAft>
              <a:buClr>
                <a:schemeClr val="dk1"/>
              </a:buClr>
              <a:buSzPts val="3632"/>
              <a:buFont typeface="Arial"/>
              <a:buNone/>
            </a:pPr>
            <a:r>
              <a:rPr lang="es-PE" sz="3025" b="1" i="0" u="none" strike="noStrike" cap="none" dirty="0">
                <a:solidFill>
                  <a:schemeClr val="dk1"/>
                </a:solidFill>
                <a:latin typeface="Times New Roman"/>
                <a:ea typeface="Times New Roman"/>
                <a:cs typeface="Times New Roman"/>
                <a:sym typeface="Times New Roman"/>
              </a:rPr>
              <a:t>“</a:t>
            </a:r>
            <a:r>
              <a:rPr lang="es-PE" sz="3025" b="1" dirty="0">
                <a:latin typeface="Times New Roman"/>
                <a:ea typeface="Times New Roman"/>
                <a:cs typeface="Times New Roman"/>
                <a:sym typeface="Times New Roman"/>
              </a:rPr>
              <a:t>Análisis de las densidades horarias de infracciones de tránsito en San Martín usando DBSCAN</a:t>
            </a:r>
            <a:r>
              <a:rPr lang="es-PE" sz="3025" b="1" i="0" u="none" strike="noStrike" cap="none" dirty="0">
                <a:solidFill>
                  <a:srgbClr val="000000"/>
                </a:solidFill>
                <a:latin typeface="Times New Roman"/>
                <a:ea typeface="Times New Roman"/>
                <a:cs typeface="Times New Roman"/>
                <a:sym typeface="Times New Roman"/>
              </a:rPr>
              <a:t>”</a:t>
            </a:r>
            <a:endParaRPr sz="165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2"/>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62" name="Google Shape;62;p2"/>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2</a:t>
            </a:fld>
            <a:endParaRPr/>
          </a:p>
        </p:txBody>
      </p:sp>
      <p:sp>
        <p:nvSpPr>
          <p:cNvPr id="63" name="Google Shape;63;p2"/>
          <p:cNvSpPr txBox="1"/>
          <p:nvPr/>
        </p:nvSpPr>
        <p:spPr>
          <a:xfrm>
            <a:off x="3213340" y="579939"/>
            <a:ext cx="11720730" cy="580672"/>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i="0" u="none" strike="noStrike" cap="none" dirty="0">
                <a:solidFill>
                  <a:srgbClr val="000000"/>
                </a:solidFill>
                <a:latin typeface="Times New Roman"/>
                <a:ea typeface="Times New Roman"/>
                <a:cs typeface="Times New Roman"/>
                <a:sym typeface="Times New Roman"/>
              </a:rPr>
              <a:t>Capítulo I: Introducción</a:t>
            </a:r>
            <a:endParaRPr sz="3000" b="0" i="0" u="none" strike="noStrike" cap="none" dirty="0">
              <a:solidFill>
                <a:srgbClr val="000000"/>
              </a:solidFill>
              <a:latin typeface="Times New Roman"/>
              <a:ea typeface="Times New Roman"/>
              <a:cs typeface="Times New Roman"/>
              <a:sym typeface="Times New Roman"/>
            </a:endParaRPr>
          </a:p>
        </p:txBody>
      </p:sp>
      <p:grpSp>
        <p:nvGrpSpPr>
          <p:cNvPr id="64" name="Google Shape;64;p2"/>
          <p:cNvGrpSpPr/>
          <p:nvPr/>
        </p:nvGrpSpPr>
        <p:grpSpPr>
          <a:xfrm>
            <a:off x="8441327" y="157015"/>
            <a:ext cx="3586983" cy="1393378"/>
            <a:chOff x="8604892" y="0"/>
            <a:chExt cx="3586983" cy="1393378"/>
          </a:xfrm>
        </p:grpSpPr>
        <p:sp>
          <p:nvSpPr>
            <p:cNvPr id="65" name="Google Shape;65;p2"/>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66" name="Google Shape;66;p2"/>
            <p:cNvGrpSpPr/>
            <p:nvPr/>
          </p:nvGrpSpPr>
          <p:grpSpPr>
            <a:xfrm>
              <a:off x="8604892" y="0"/>
              <a:ext cx="997308" cy="1069887"/>
              <a:chOff x="8604892" y="0"/>
              <a:chExt cx="997308" cy="1069887"/>
            </a:xfrm>
          </p:grpSpPr>
          <p:pic>
            <p:nvPicPr>
              <p:cNvPr id="67" name="Google Shape;67;p2"/>
              <p:cNvPicPr preferRelativeResize="0"/>
              <p:nvPr/>
            </p:nvPicPr>
            <p:blipFill rotWithShape="1">
              <a:blip r:embed="rId3">
                <a:alphaModFix/>
              </a:blip>
              <a:srcRect/>
              <a:stretch/>
            </p:blipFill>
            <p:spPr>
              <a:xfrm>
                <a:off x="8604892" y="115678"/>
                <a:ext cx="887608" cy="954209"/>
              </a:xfrm>
              <a:prstGeom prst="rect">
                <a:avLst/>
              </a:prstGeom>
              <a:noFill/>
              <a:ln>
                <a:noFill/>
              </a:ln>
            </p:spPr>
          </p:pic>
          <p:cxnSp>
            <p:nvCxnSpPr>
              <p:cNvPr id="68" name="Google Shape;68;p2"/>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
        <p:nvSpPr>
          <p:cNvPr id="69" name="Google Shape;69;p2"/>
          <p:cNvSpPr txBox="1"/>
          <p:nvPr/>
        </p:nvSpPr>
        <p:spPr>
          <a:xfrm>
            <a:off x="338055" y="1518766"/>
            <a:ext cx="5060400" cy="4340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PE" sz="1800" b="1" dirty="0">
                <a:solidFill>
                  <a:schemeClr val="dk1"/>
                </a:solidFill>
                <a:latin typeface="Times New Roman"/>
                <a:ea typeface="Times New Roman"/>
                <a:cs typeface="Times New Roman"/>
                <a:sym typeface="Times New Roman"/>
              </a:rPr>
              <a:t>Problema que aborda:</a:t>
            </a:r>
            <a:br>
              <a:rPr lang="es-PE" sz="1800" b="1" dirty="0">
                <a:solidFill>
                  <a:schemeClr val="dk1"/>
                </a:solidFill>
                <a:latin typeface="Times New Roman"/>
                <a:ea typeface="Times New Roman"/>
                <a:cs typeface="Times New Roman"/>
                <a:sym typeface="Times New Roman"/>
              </a:rPr>
            </a:br>
            <a:r>
              <a:rPr lang="es-PE" sz="1800" dirty="0">
                <a:solidFill>
                  <a:schemeClr val="dk1"/>
                </a:solidFill>
                <a:latin typeface="Times New Roman"/>
                <a:ea typeface="Times New Roman"/>
                <a:cs typeface="Times New Roman"/>
                <a:sym typeface="Times New Roman"/>
              </a:rPr>
              <a:t>Alta incidencia de infracciones de tránsito en la región San Martín, sin un análisis específico de sus patrones horarios.</a:t>
            </a:r>
            <a:br>
              <a:rPr lang="es-PE" sz="1800" dirty="0">
                <a:solidFill>
                  <a:schemeClr val="dk1"/>
                </a:solidFill>
                <a:latin typeface="Times New Roman"/>
                <a:ea typeface="Times New Roman"/>
                <a:cs typeface="Times New Roman"/>
                <a:sym typeface="Times New Roman"/>
              </a:rPr>
            </a:b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s-PE" sz="1800" b="1" dirty="0">
                <a:solidFill>
                  <a:schemeClr val="dk1"/>
                </a:solidFill>
                <a:latin typeface="Times New Roman"/>
                <a:ea typeface="Times New Roman"/>
                <a:cs typeface="Times New Roman"/>
                <a:sym typeface="Times New Roman"/>
              </a:rPr>
              <a:t>Solución tecnológica desarrollada:</a:t>
            </a:r>
            <a:br>
              <a:rPr lang="es-PE" sz="1800" b="1" dirty="0">
                <a:solidFill>
                  <a:schemeClr val="dk1"/>
                </a:solidFill>
                <a:latin typeface="Times New Roman"/>
                <a:ea typeface="Times New Roman"/>
                <a:cs typeface="Times New Roman"/>
                <a:sym typeface="Times New Roman"/>
              </a:rPr>
            </a:br>
            <a:r>
              <a:rPr lang="es-PE" sz="1800" dirty="0">
                <a:solidFill>
                  <a:schemeClr val="dk1"/>
                </a:solidFill>
                <a:latin typeface="Times New Roman"/>
                <a:ea typeface="Times New Roman"/>
                <a:cs typeface="Times New Roman"/>
                <a:sym typeface="Times New Roman"/>
              </a:rPr>
              <a:t>Aplicación del algoritmo DBSCAN para identificar agrupamientos de infracciones según su densidad horaria.</a:t>
            </a:r>
            <a:br>
              <a:rPr lang="es-PE" sz="1800" dirty="0">
                <a:solidFill>
                  <a:schemeClr val="dk1"/>
                </a:solidFill>
                <a:latin typeface="Times New Roman"/>
                <a:ea typeface="Times New Roman"/>
                <a:cs typeface="Times New Roman"/>
                <a:sym typeface="Times New Roman"/>
              </a:rPr>
            </a:b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s-PE" sz="1800" b="1" dirty="0">
                <a:solidFill>
                  <a:schemeClr val="dk1"/>
                </a:solidFill>
                <a:latin typeface="Times New Roman"/>
                <a:ea typeface="Times New Roman"/>
                <a:cs typeface="Times New Roman"/>
                <a:sym typeface="Times New Roman"/>
              </a:rPr>
              <a:t>Objetivo del proyecto:</a:t>
            </a:r>
            <a:br>
              <a:rPr lang="es-PE" sz="1800" b="1" dirty="0">
                <a:solidFill>
                  <a:schemeClr val="dk1"/>
                </a:solidFill>
                <a:latin typeface="Times New Roman"/>
                <a:ea typeface="Times New Roman"/>
                <a:cs typeface="Times New Roman"/>
                <a:sym typeface="Times New Roman"/>
              </a:rPr>
            </a:br>
            <a:r>
              <a:rPr lang="es-PE" sz="1800" dirty="0">
                <a:solidFill>
                  <a:schemeClr val="dk1"/>
                </a:solidFill>
                <a:latin typeface="Times New Roman"/>
                <a:ea typeface="Times New Roman"/>
                <a:cs typeface="Times New Roman"/>
                <a:sym typeface="Times New Roman"/>
              </a:rPr>
              <a:t>Analizar las densidades horarias de las infracciones de tránsito mediante técnicas de agrupamiento espacial no supervisado.</a:t>
            </a:r>
            <a:br>
              <a:rPr lang="es-PE" sz="1800" dirty="0">
                <a:solidFill>
                  <a:schemeClr val="dk1"/>
                </a:solidFill>
                <a:latin typeface="Times New Roman"/>
                <a:ea typeface="Times New Roman"/>
                <a:cs typeface="Times New Roman"/>
                <a:sym typeface="Times New Roman"/>
              </a:rPr>
            </a:br>
            <a:endParaRPr sz="1800" dirty="0">
              <a:solidFill>
                <a:srgbClr val="FF0000"/>
              </a:solidFill>
              <a:latin typeface="Times New Roman"/>
              <a:ea typeface="Times New Roman"/>
              <a:cs typeface="Times New Roman"/>
              <a:sym typeface="Times New Roman"/>
            </a:endParaRPr>
          </a:p>
        </p:txBody>
      </p:sp>
      <p:sp>
        <p:nvSpPr>
          <p:cNvPr id="70" name="Google Shape;70;p2"/>
          <p:cNvSpPr txBox="1"/>
          <p:nvPr/>
        </p:nvSpPr>
        <p:spPr>
          <a:xfrm>
            <a:off x="6297710" y="1598680"/>
            <a:ext cx="4998900" cy="438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PE" sz="1800" b="1" dirty="0">
                <a:solidFill>
                  <a:schemeClr val="dk1"/>
                </a:solidFill>
                <a:latin typeface="Times New Roman"/>
                <a:ea typeface="Times New Roman"/>
                <a:cs typeface="Times New Roman"/>
                <a:sym typeface="Times New Roman"/>
              </a:rPr>
              <a:t>Tecnología base utilizada:</a:t>
            </a:r>
            <a:endParaRPr sz="1800" b="1" dirty="0">
              <a:solidFill>
                <a:schemeClr val="dk1"/>
              </a:solidFill>
              <a:latin typeface="Times New Roman"/>
              <a:ea typeface="Times New Roman"/>
              <a:cs typeface="Times New Roman"/>
              <a:sym typeface="Times New Roman"/>
            </a:endParaRPr>
          </a:p>
          <a:p>
            <a:pPr marL="457200" lvl="0" indent="-342900" algn="l" rtl="0">
              <a:lnSpc>
                <a:spcPct val="115000"/>
              </a:lnSpc>
              <a:spcBef>
                <a:spcPts val="1200"/>
              </a:spcBef>
              <a:spcAft>
                <a:spcPts val="0"/>
              </a:spcAft>
              <a:buClr>
                <a:schemeClr val="dk1"/>
              </a:buClr>
              <a:buSzPts val="1800"/>
              <a:buFont typeface="Times New Roman"/>
              <a:buChar char="●"/>
            </a:pPr>
            <a:r>
              <a:rPr lang="es-PE" sz="1800" dirty="0">
                <a:solidFill>
                  <a:schemeClr val="dk1"/>
                </a:solidFill>
                <a:latin typeface="Times New Roman"/>
                <a:ea typeface="Times New Roman"/>
                <a:cs typeface="Times New Roman"/>
                <a:sym typeface="Times New Roman"/>
              </a:rPr>
              <a:t>Machine </a:t>
            </a:r>
            <a:r>
              <a:rPr lang="es-PE" sz="1800" dirty="0" err="1">
                <a:solidFill>
                  <a:schemeClr val="dk1"/>
                </a:solidFill>
                <a:latin typeface="Times New Roman"/>
                <a:ea typeface="Times New Roman"/>
                <a:cs typeface="Times New Roman"/>
                <a:sym typeface="Times New Roman"/>
              </a:rPr>
              <a:t>Learning</a:t>
            </a:r>
            <a:endParaRPr sz="18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s-PE" sz="1800" dirty="0">
                <a:solidFill>
                  <a:schemeClr val="dk1"/>
                </a:solidFill>
                <a:latin typeface="Times New Roman"/>
                <a:ea typeface="Times New Roman"/>
                <a:cs typeface="Times New Roman"/>
                <a:sym typeface="Times New Roman"/>
              </a:rPr>
              <a:t>DBSCAN (</a:t>
            </a:r>
            <a:r>
              <a:rPr lang="es-PE" sz="1800" dirty="0" err="1">
                <a:solidFill>
                  <a:schemeClr val="dk1"/>
                </a:solidFill>
                <a:latin typeface="Times New Roman"/>
                <a:ea typeface="Times New Roman"/>
                <a:cs typeface="Times New Roman"/>
                <a:sym typeface="Times New Roman"/>
              </a:rPr>
              <a:t>clustering</a:t>
            </a:r>
            <a:r>
              <a:rPr lang="es-PE" sz="1800" dirty="0">
                <a:solidFill>
                  <a:schemeClr val="dk1"/>
                </a:solidFill>
                <a:latin typeface="Times New Roman"/>
                <a:ea typeface="Times New Roman"/>
                <a:cs typeface="Times New Roman"/>
                <a:sym typeface="Times New Roman"/>
              </a:rPr>
              <a:t> no supervisado)</a:t>
            </a:r>
            <a:endParaRPr sz="18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s-PE" sz="1800" dirty="0">
                <a:solidFill>
                  <a:schemeClr val="dk1"/>
                </a:solidFill>
                <a:latin typeface="Times New Roman"/>
                <a:ea typeface="Times New Roman"/>
                <a:cs typeface="Times New Roman"/>
                <a:sym typeface="Times New Roman"/>
              </a:rPr>
              <a:t>Herramientas de procesamiento de datos como </a:t>
            </a:r>
            <a:r>
              <a:rPr lang="es-PE" sz="1800" dirty="0" err="1">
                <a:solidFill>
                  <a:schemeClr val="dk1"/>
                </a:solidFill>
                <a:latin typeface="Times New Roman"/>
                <a:ea typeface="Times New Roman"/>
                <a:cs typeface="Times New Roman"/>
                <a:sym typeface="Times New Roman"/>
              </a:rPr>
              <a:t>Power</a:t>
            </a:r>
            <a:r>
              <a:rPr lang="es-PE" sz="1800" dirty="0">
                <a:solidFill>
                  <a:schemeClr val="dk1"/>
                </a:solidFill>
                <a:latin typeface="Times New Roman"/>
                <a:ea typeface="Times New Roman"/>
                <a:cs typeface="Times New Roman"/>
                <a:sym typeface="Times New Roman"/>
              </a:rPr>
              <a:t> </a:t>
            </a:r>
            <a:r>
              <a:rPr lang="es-PE" sz="1800" dirty="0" err="1">
                <a:solidFill>
                  <a:schemeClr val="dk1"/>
                </a:solidFill>
                <a:latin typeface="Times New Roman"/>
                <a:ea typeface="Times New Roman"/>
                <a:cs typeface="Times New Roman"/>
                <a:sym typeface="Times New Roman"/>
              </a:rPr>
              <a:t>Pivot</a:t>
            </a:r>
            <a:r>
              <a:rPr lang="es-PE" sz="1800" dirty="0">
                <a:solidFill>
                  <a:schemeClr val="dk1"/>
                </a:solidFill>
                <a:latin typeface="Times New Roman"/>
                <a:ea typeface="Times New Roman"/>
                <a:cs typeface="Times New Roman"/>
                <a:sym typeface="Times New Roman"/>
              </a:rPr>
              <a:t> e IntelliJ IDEA</a:t>
            </a:r>
            <a:endParaRPr sz="18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s-PE" sz="1800" b="1" dirty="0">
                <a:solidFill>
                  <a:schemeClr val="dk1"/>
                </a:solidFill>
                <a:latin typeface="Times New Roman"/>
                <a:ea typeface="Times New Roman"/>
                <a:cs typeface="Times New Roman"/>
                <a:sym typeface="Times New Roman"/>
              </a:rPr>
              <a:t>Impacto esperado:</a:t>
            </a:r>
            <a:endParaRPr sz="1800" b="1" dirty="0">
              <a:solidFill>
                <a:schemeClr val="dk1"/>
              </a:solidFill>
              <a:latin typeface="Times New Roman"/>
              <a:ea typeface="Times New Roman"/>
              <a:cs typeface="Times New Roman"/>
              <a:sym typeface="Times New Roman"/>
            </a:endParaRPr>
          </a:p>
          <a:p>
            <a:pPr marL="457200" lvl="0" indent="-342900" algn="l" rtl="0">
              <a:lnSpc>
                <a:spcPct val="115000"/>
              </a:lnSpc>
              <a:spcBef>
                <a:spcPts val="1200"/>
              </a:spcBef>
              <a:spcAft>
                <a:spcPts val="0"/>
              </a:spcAft>
              <a:buClr>
                <a:schemeClr val="dk1"/>
              </a:buClr>
              <a:buSzPts val="1800"/>
              <a:buFont typeface="Times New Roman"/>
              <a:buChar char="●"/>
            </a:pPr>
            <a:r>
              <a:rPr lang="es-PE" sz="1800" dirty="0">
                <a:solidFill>
                  <a:schemeClr val="dk1"/>
                </a:solidFill>
                <a:latin typeface="Times New Roman"/>
                <a:ea typeface="Times New Roman"/>
                <a:cs typeface="Times New Roman"/>
                <a:sym typeface="Times New Roman"/>
              </a:rPr>
              <a:t>Mejor planificación de operativos de fiscalización vial.</a:t>
            </a:r>
            <a:endParaRPr sz="18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s-PE" sz="1800" dirty="0">
                <a:solidFill>
                  <a:schemeClr val="dk1"/>
                </a:solidFill>
                <a:latin typeface="Times New Roman"/>
                <a:ea typeface="Times New Roman"/>
                <a:cs typeface="Times New Roman"/>
                <a:sym typeface="Times New Roman"/>
              </a:rPr>
              <a:t>Optimización de recursos y diseño de políticas públicas de tránsito basadas en evidencia.</a:t>
            </a:r>
            <a:endParaRPr sz="1800" dirty="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s-PE" sz="1800" dirty="0">
                <a:solidFill>
                  <a:schemeClr val="dk1"/>
                </a:solidFill>
                <a:latin typeface="Times New Roman"/>
                <a:ea typeface="Times New Roman"/>
                <a:cs typeface="Times New Roman"/>
                <a:sym typeface="Times New Roman"/>
              </a:rPr>
              <a:t>Posibilidad de replicar el modelo en otras regiones.</a:t>
            </a:r>
            <a:endParaRPr sz="1800" dirty="0"/>
          </a:p>
        </p:txBody>
      </p:sp>
      <p:pic>
        <p:nvPicPr>
          <p:cNvPr id="2" name="Google Shape;46;p1">
            <a:extLst>
              <a:ext uri="{FF2B5EF4-FFF2-40B4-BE49-F238E27FC236}">
                <a16:creationId xmlns:a16="http://schemas.microsoft.com/office/drawing/2014/main" id="{D600581F-B507-4ED6-1F20-82EB4EB07F42}"/>
              </a:ext>
            </a:extLst>
          </p:cNvPr>
          <p:cNvPicPr preferRelativeResize="0"/>
          <p:nvPr/>
        </p:nvPicPr>
        <p:blipFill rotWithShape="1">
          <a:blip r:embed="rId4">
            <a:alphaModFix/>
          </a:blip>
          <a:srcRect b="61363"/>
          <a:stretch>
            <a:fillRect/>
          </a:stretch>
        </p:blipFill>
        <p:spPr>
          <a:xfrm>
            <a:off x="84672" y="79519"/>
            <a:ext cx="6011326" cy="58088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6" name="Google Shape;76;g344e738a562_0_0"/>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77" name="Google Shape;77;g344e738a562_0_0"/>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3</a:t>
            </a:fld>
            <a:endParaRPr/>
          </a:p>
        </p:txBody>
      </p:sp>
      <p:sp>
        <p:nvSpPr>
          <p:cNvPr id="84" name="Google Shape;84;g344e738a562_0_0"/>
          <p:cNvSpPr txBox="1"/>
          <p:nvPr/>
        </p:nvSpPr>
        <p:spPr>
          <a:xfrm>
            <a:off x="1262615" y="878701"/>
            <a:ext cx="5309400" cy="523200"/>
          </a:xfrm>
          <a:prstGeom prst="rect">
            <a:avLst/>
          </a:prstGeom>
          <a:noFill/>
          <a:ln>
            <a:noFill/>
          </a:ln>
        </p:spPr>
        <p:txBody>
          <a:bodyPr spcFirstLastPara="1" wrap="square" lIns="91425" tIns="91425" rIns="91425" bIns="91425" anchor="t" anchorCtr="0">
            <a:spAutoFit/>
          </a:bodyPr>
          <a:lstStyle/>
          <a:p>
            <a:pPr marL="180340" lvl="0" indent="0" algn="just" rtl="0">
              <a:lnSpc>
                <a:spcPct val="115000"/>
              </a:lnSpc>
              <a:spcBef>
                <a:spcPts val="0"/>
              </a:spcBef>
              <a:spcAft>
                <a:spcPts val="0"/>
              </a:spcAft>
              <a:buNone/>
            </a:pPr>
            <a:r>
              <a:rPr lang="es-PE" sz="2200" b="1" dirty="0">
                <a:solidFill>
                  <a:schemeClr val="dk1"/>
                </a:solidFill>
                <a:latin typeface="Times New Roman"/>
                <a:ea typeface="Times New Roman"/>
                <a:cs typeface="Times New Roman"/>
                <a:sym typeface="Times New Roman"/>
              </a:rPr>
              <a:t>Justificación Práctica</a:t>
            </a:r>
            <a:endParaRPr sz="2200" dirty="0"/>
          </a:p>
        </p:txBody>
      </p:sp>
      <p:sp>
        <p:nvSpPr>
          <p:cNvPr id="85" name="Google Shape;85;g344e738a562_0_0"/>
          <p:cNvSpPr txBox="1"/>
          <p:nvPr/>
        </p:nvSpPr>
        <p:spPr>
          <a:xfrm>
            <a:off x="992543" y="1786339"/>
            <a:ext cx="10206663" cy="3847177"/>
          </a:xfrm>
          <a:prstGeom prst="rect">
            <a:avLst/>
          </a:prstGeom>
          <a:noFill/>
          <a:ln>
            <a:noFill/>
          </a:ln>
        </p:spPr>
        <p:txBody>
          <a:bodyPr spcFirstLastPara="1" wrap="square" lIns="91425" tIns="91425" rIns="91425" bIns="91425" anchor="t" anchorCtr="0">
            <a:spAutoFit/>
          </a:bodyPr>
          <a:lstStyle/>
          <a:p>
            <a:pPr marL="457200" lvl="0" indent="-336550" algn="l" rtl="0">
              <a:spcBef>
                <a:spcPts val="0"/>
              </a:spcBef>
              <a:spcAft>
                <a:spcPts val="0"/>
              </a:spcAft>
              <a:buClr>
                <a:schemeClr val="dk1"/>
              </a:buClr>
              <a:buSzPts val="1700"/>
              <a:buChar char="●"/>
            </a:pPr>
            <a:r>
              <a:rPr lang="es-PE" sz="1700" b="1" dirty="0">
                <a:solidFill>
                  <a:schemeClr val="dk1"/>
                </a:solidFill>
                <a:latin typeface="Times New Roman"/>
                <a:ea typeface="Times New Roman"/>
                <a:cs typeface="Times New Roman"/>
                <a:sym typeface="Times New Roman"/>
              </a:rPr>
              <a:t>Responde a una necesidad real</a:t>
            </a:r>
            <a:r>
              <a:rPr lang="es-PE" sz="1700" dirty="0">
                <a:solidFill>
                  <a:schemeClr val="dk1"/>
                </a:solidFill>
                <a:latin typeface="Times New Roman"/>
                <a:ea typeface="Times New Roman"/>
                <a:cs typeface="Times New Roman"/>
                <a:sym typeface="Times New Roman"/>
              </a:rPr>
              <a:t>: Ayuda a las autoridades de San Martín a identificar horas críticas y patrones de infracciones para mejorar la fiscalización vial.</a:t>
            </a:r>
            <a:br>
              <a:rPr lang="es-PE" sz="1700" dirty="0">
                <a:solidFill>
                  <a:schemeClr val="dk1"/>
                </a:solidFill>
                <a:latin typeface="Times New Roman"/>
                <a:ea typeface="Times New Roman"/>
                <a:cs typeface="Times New Roman"/>
                <a:sym typeface="Times New Roman"/>
              </a:rPr>
            </a:br>
            <a:endParaRPr sz="1700" dirty="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Char char="●"/>
            </a:pPr>
            <a:r>
              <a:rPr lang="es-PE" sz="1700" b="1" dirty="0">
                <a:solidFill>
                  <a:schemeClr val="dk1"/>
                </a:solidFill>
                <a:latin typeface="Times New Roman"/>
                <a:ea typeface="Times New Roman"/>
                <a:cs typeface="Times New Roman"/>
                <a:sym typeface="Times New Roman"/>
              </a:rPr>
              <a:t>Supera limitaciones actuales</a:t>
            </a:r>
            <a:r>
              <a:rPr lang="es-PE" sz="1700" dirty="0">
                <a:solidFill>
                  <a:schemeClr val="dk1"/>
                </a:solidFill>
                <a:latin typeface="Times New Roman"/>
                <a:ea typeface="Times New Roman"/>
                <a:cs typeface="Times New Roman"/>
                <a:sym typeface="Times New Roman"/>
              </a:rPr>
              <a:t>: Actualmente los datos no se analizan a fondo; usar DBSCAN permitirá obtener información precisa y útil, más allá de simples estadísticas.</a:t>
            </a:r>
            <a:br>
              <a:rPr lang="es-PE" sz="1700" dirty="0">
                <a:solidFill>
                  <a:schemeClr val="dk1"/>
                </a:solidFill>
                <a:latin typeface="Times New Roman"/>
                <a:ea typeface="Times New Roman"/>
                <a:cs typeface="Times New Roman"/>
                <a:sym typeface="Times New Roman"/>
              </a:rPr>
            </a:br>
            <a:endParaRPr sz="1700" dirty="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Char char="●"/>
            </a:pPr>
            <a:r>
              <a:rPr lang="es-PE" sz="1700" b="1" dirty="0">
                <a:solidFill>
                  <a:schemeClr val="dk1"/>
                </a:solidFill>
                <a:latin typeface="Times New Roman"/>
                <a:ea typeface="Times New Roman"/>
                <a:cs typeface="Times New Roman"/>
                <a:sym typeface="Times New Roman"/>
              </a:rPr>
              <a:t>Optimiza recursos</a:t>
            </a:r>
            <a:r>
              <a:rPr lang="es-PE" sz="1700" dirty="0">
                <a:solidFill>
                  <a:schemeClr val="dk1"/>
                </a:solidFill>
                <a:latin typeface="Times New Roman"/>
                <a:ea typeface="Times New Roman"/>
                <a:cs typeface="Times New Roman"/>
                <a:sym typeface="Times New Roman"/>
              </a:rPr>
              <a:t>: Permite planificar operativos de control en los momentos y lugares de mayor riesgo, haciendo más eficiente la gestión vial.</a:t>
            </a:r>
            <a:br>
              <a:rPr lang="es-PE" sz="1700" dirty="0">
                <a:solidFill>
                  <a:schemeClr val="dk1"/>
                </a:solidFill>
                <a:latin typeface="Times New Roman"/>
                <a:ea typeface="Times New Roman"/>
                <a:cs typeface="Times New Roman"/>
                <a:sym typeface="Times New Roman"/>
              </a:rPr>
            </a:br>
            <a:endParaRPr sz="1700" dirty="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Char char="●"/>
            </a:pPr>
            <a:r>
              <a:rPr lang="es-PE" sz="1700" b="1" dirty="0">
                <a:solidFill>
                  <a:schemeClr val="dk1"/>
                </a:solidFill>
                <a:latin typeface="Times New Roman"/>
                <a:ea typeface="Times New Roman"/>
                <a:cs typeface="Times New Roman"/>
                <a:sym typeface="Times New Roman"/>
              </a:rPr>
              <a:t>Tiene potencial replicable</a:t>
            </a:r>
            <a:r>
              <a:rPr lang="es-PE" sz="1700" dirty="0">
                <a:solidFill>
                  <a:schemeClr val="dk1"/>
                </a:solidFill>
                <a:latin typeface="Times New Roman"/>
                <a:ea typeface="Times New Roman"/>
                <a:cs typeface="Times New Roman"/>
                <a:sym typeface="Times New Roman"/>
              </a:rPr>
              <a:t>: La metodología tecnológica puede aplicarse en otras regiones, mejorando la seguridad vial en más lugares.</a:t>
            </a:r>
            <a:br>
              <a:rPr lang="es-PE" sz="1700" dirty="0">
                <a:solidFill>
                  <a:schemeClr val="dk1"/>
                </a:solidFill>
                <a:latin typeface="Times New Roman"/>
                <a:ea typeface="Times New Roman"/>
                <a:cs typeface="Times New Roman"/>
                <a:sym typeface="Times New Roman"/>
              </a:rPr>
            </a:br>
            <a:endParaRPr sz="1700" dirty="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Char char="●"/>
            </a:pPr>
            <a:r>
              <a:rPr lang="es-PE" sz="1700" b="1" dirty="0">
                <a:solidFill>
                  <a:schemeClr val="dk1"/>
                </a:solidFill>
                <a:latin typeface="Times New Roman"/>
                <a:ea typeface="Times New Roman"/>
                <a:cs typeface="Times New Roman"/>
                <a:sym typeface="Times New Roman"/>
              </a:rPr>
              <a:t>Fortalece políticas públicas</a:t>
            </a:r>
            <a:r>
              <a:rPr lang="es-PE" sz="1700" dirty="0">
                <a:solidFill>
                  <a:schemeClr val="dk1"/>
                </a:solidFill>
                <a:latin typeface="Times New Roman"/>
                <a:ea typeface="Times New Roman"/>
                <a:cs typeface="Times New Roman"/>
                <a:sym typeface="Times New Roman"/>
              </a:rPr>
              <a:t>: Con datos objetivos, se podrán diseñar estrategias de tránsito más efectivas, impactando positivamente en la seguridad y calidad de vida.</a:t>
            </a:r>
            <a:endParaRPr sz="1700" dirty="0">
              <a:solidFill>
                <a:schemeClr val="dk1"/>
              </a:solidFill>
              <a:latin typeface="Times New Roman"/>
              <a:ea typeface="Times New Roman"/>
              <a:cs typeface="Times New Roman"/>
              <a:sym typeface="Times New Roman"/>
            </a:endParaRPr>
          </a:p>
        </p:txBody>
      </p:sp>
      <p:pic>
        <p:nvPicPr>
          <p:cNvPr id="2" name="Google Shape;46;p1">
            <a:extLst>
              <a:ext uri="{FF2B5EF4-FFF2-40B4-BE49-F238E27FC236}">
                <a16:creationId xmlns:a16="http://schemas.microsoft.com/office/drawing/2014/main" id="{A3930C1B-B594-F36F-F7AF-3D764541F714}"/>
              </a:ext>
            </a:extLst>
          </p:cNvPr>
          <p:cNvPicPr preferRelativeResize="0"/>
          <p:nvPr/>
        </p:nvPicPr>
        <p:blipFill rotWithShape="1">
          <a:blip r:embed="rId3">
            <a:alphaModFix/>
          </a:blip>
          <a:srcRect b="61363"/>
          <a:stretch>
            <a:fillRect/>
          </a:stretch>
        </p:blipFill>
        <p:spPr>
          <a:xfrm>
            <a:off x="84672" y="79519"/>
            <a:ext cx="6011326" cy="580882"/>
          </a:xfrm>
          <a:prstGeom prst="rect">
            <a:avLst/>
          </a:prstGeom>
          <a:noFill/>
          <a:ln>
            <a:noFill/>
          </a:ln>
        </p:spPr>
      </p:pic>
      <p:grpSp>
        <p:nvGrpSpPr>
          <p:cNvPr id="8" name="Google Shape;64;p2">
            <a:extLst>
              <a:ext uri="{FF2B5EF4-FFF2-40B4-BE49-F238E27FC236}">
                <a16:creationId xmlns:a16="http://schemas.microsoft.com/office/drawing/2014/main" id="{90741031-EE0F-239B-B0E8-8F16312BE92D}"/>
              </a:ext>
            </a:extLst>
          </p:cNvPr>
          <p:cNvGrpSpPr/>
          <p:nvPr/>
        </p:nvGrpSpPr>
        <p:grpSpPr>
          <a:xfrm>
            <a:off x="8441327" y="157015"/>
            <a:ext cx="3586983" cy="1393378"/>
            <a:chOff x="8604892" y="0"/>
            <a:chExt cx="3586983" cy="1393378"/>
          </a:xfrm>
        </p:grpSpPr>
        <p:sp>
          <p:nvSpPr>
            <p:cNvPr id="9" name="Google Shape;65;p2">
              <a:extLst>
                <a:ext uri="{FF2B5EF4-FFF2-40B4-BE49-F238E27FC236}">
                  <a16:creationId xmlns:a16="http://schemas.microsoft.com/office/drawing/2014/main" id="{7E542DF4-4B36-B981-0FC3-502E9A3FBF31}"/>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10" name="Google Shape;66;p2">
              <a:extLst>
                <a:ext uri="{FF2B5EF4-FFF2-40B4-BE49-F238E27FC236}">
                  <a16:creationId xmlns:a16="http://schemas.microsoft.com/office/drawing/2014/main" id="{21DEFC32-1CE6-71D2-6525-8A393386F93B}"/>
                </a:ext>
              </a:extLst>
            </p:cNvPr>
            <p:cNvGrpSpPr/>
            <p:nvPr/>
          </p:nvGrpSpPr>
          <p:grpSpPr>
            <a:xfrm>
              <a:off x="8604892" y="0"/>
              <a:ext cx="997308" cy="1069887"/>
              <a:chOff x="8604892" y="0"/>
              <a:chExt cx="997308" cy="1069887"/>
            </a:xfrm>
          </p:grpSpPr>
          <p:pic>
            <p:nvPicPr>
              <p:cNvPr id="11" name="Google Shape;67;p2">
                <a:extLst>
                  <a:ext uri="{FF2B5EF4-FFF2-40B4-BE49-F238E27FC236}">
                    <a16:creationId xmlns:a16="http://schemas.microsoft.com/office/drawing/2014/main" id="{BC90B459-6B98-A551-393E-AC976268A323}"/>
                  </a:ext>
                </a:extLst>
              </p:cNvPr>
              <p:cNvPicPr preferRelativeResize="0"/>
              <p:nvPr/>
            </p:nvPicPr>
            <p:blipFill rotWithShape="1">
              <a:blip r:embed="rId4">
                <a:alphaModFix/>
              </a:blip>
              <a:srcRect/>
              <a:stretch/>
            </p:blipFill>
            <p:spPr>
              <a:xfrm>
                <a:off x="8604892" y="115678"/>
                <a:ext cx="887608" cy="954209"/>
              </a:xfrm>
              <a:prstGeom prst="rect">
                <a:avLst/>
              </a:prstGeom>
              <a:noFill/>
              <a:ln>
                <a:noFill/>
              </a:ln>
            </p:spPr>
          </p:pic>
          <p:cxnSp>
            <p:nvCxnSpPr>
              <p:cNvPr id="12" name="Google Shape;68;p2">
                <a:extLst>
                  <a:ext uri="{FF2B5EF4-FFF2-40B4-BE49-F238E27FC236}">
                    <a16:creationId xmlns:a16="http://schemas.microsoft.com/office/drawing/2014/main" id="{171209BA-3FC6-1C21-8601-52BD7AE77153}"/>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1" name="Google Shape;91;p3"/>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92" name="Google Shape;92;p3"/>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4</a:t>
            </a:fld>
            <a:endParaRPr/>
          </a:p>
        </p:txBody>
      </p:sp>
      <p:sp>
        <p:nvSpPr>
          <p:cNvPr id="93" name="Google Shape;93;p3"/>
          <p:cNvSpPr txBox="1"/>
          <p:nvPr/>
        </p:nvSpPr>
        <p:spPr>
          <a:xfrm>
            <a:off x="948640" y="798616"/>
            <a:ext cx="5455402" cy="623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i="0" u="none" strike="noStrike" cap="none" dirty="0">
                <a:solidFill>
                  <a:srgbClr val="000000"/>
                </a:solidFill>
                <a:latin typeface="Times New Roman"/>
                <a:ea typeface="Times New Roman"/>
                <a:cs typeface="Times New Roman"/>
                <a:sym typeface="Times New Roman"/>
              </a:rPr>
              <a:t>Capítulo II: Metodología </a:t>
            </a:r>
            <a:endParaRPr sz="3000" b="0" i="0" u="none" strike="noStrike" cap="none" dirty="0">
              <a:solidFill>
                <a:srgbClr val="000000"/>
              </a:solidFill>
              <a:latin typeface="Times New Roman"/>
              <a:ea typeface="Times New Roman"/>
              <a:cs typeface="Times New Roman"/>
              <a:sym typeface="Times New Roman"/>
            </a:endParaRPr>
          </a:p>
        </p:txBody>
      </p:sp>
      <p:sp>
        <p:nvSpPr>
          <p:cNvPr id="99" name="Google Shape;99;p3"/>
          <p:cNvSpPr txBox="1"/>
          <p:nvPr/>
        </p:nvSpPr>
        <p:spPr>
          <a:xfrm>
            <a:off x="337035" y="1421716"/>
            <a:ext cx="11517680" cy="575693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just" rtl="0">
              <a:spcBef>
                <a:spcPts val="0"/>
              </a:spcBef>
              <a:spcAft>
                <a:spcPts val="0"/>
              </a:spcAft>
              <a:buNone/>
            </a:pPr>
            <a:r>
              <a:rPr lang="es-PE" sz="1600" b="1" dirty="0">
                <a:solidFill>
                  <a:schemeClr val="dk1"/>
                </a:solidFill>
                <a:highlight>
                  <a:schemeClr val="lt1"/>
                </a:highlight>
                <a:latin typeface="Times New Roman"/>
                <a:ea typeface="Times New Roman"/>
                <a:cs typeface="Times New Roman"/>
                <a:sym typeface="Times New Roman"/>
              </a:rPr>
              <a:t>Metodología del diseño de la solución tecnológica</a:t>
            </a:r>
            <a:endParaRPr sz="1600" b="1" dirty="0">
              <a:solidFill>
                <a:schemeClr val="dk1"/>
              </a:solidFill>
              <a:highlight>
                <a:schemeClr val="lt1"/>
              </a:highlight>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s-PE" sz="1600" dirty="0">
                <a:solidFill>
                  <a:schemeClr val="dk1"/>
                </a:solidFill>
                <a:latin typeface="Times New Roman"/>
                <a:ea typeface="Times New Roman"/>
                <a:cs typeface="Times New Roman"/>
                <a:sym typeface="Times New Roman"/>
              </a:rPr>
              <a:t>Descripción del enfoque metodológico utilizado para diseñar y desarrollar el producto.</a:t>
            </a:r>
            <a:endParaRPr sz="1600" dirty="0">
              <a:solidFill>
                <a:schemeClr val="dk1"/>
              </a:solidFill>
              <a:latin typeface="Times New Roman"/>
              <a:ea typeface="Times New Roman"/>
              <a:cs typeface="Times New Roman"/>
              <a:sym typeface="Times New Roman"/>
            </a:endParaRPr>
          </a:p>
          <a:p>
            <a:pPr marL="457200" lvl="0" indent="-317500" algn="just" rtl="0">
              <a:lnSpc>
                <a:spcPct val="115000"/>
              </a:lnSpc>
              <a:spcBef>
                <a:spcPts val="1200"/>
              </a:spcBef>
              <a:spcAft>
                <a:spcPts val="0"/>
              </a:spcAft>
              <a:buClr>
                <a:schemeClr val="dk1"/>
              </a:buClr>
              <a:buSzPts val="1400"/>
              <a:buChar char="●"/>
            </a:pPr>
            <a:r>
              <a:rPr lang="es-PE" sz="1600" b="1" dirty="0">
                <a:solidFill>
                  <a:schemeClr val="dk1"/>
                </a:solidFill>
                <a:latin typeface="Times New Roman"/>
                <a:ea typeface="Times New Roman"/>
                <a:cs typeface="Times New Roman"/>
                <a:sym typeface="Times New Roman"/>
              </a:rPr>
              <a:t>Tipo de investigación:</a:t>
            </a:r>
            <a:r>
              <a:rPr lang="es-PE" sz="1600" dirty="0">
                <a:solidFill>
                  <a:schemeClr val="dk1"/>
                </a:solidFill>
                <a:latin typeface="Times New Roman"/>
                <a:ea typeface="Times New Roman"/>
                <a:cs typeface="Times New Roman"/>
                <a:sym typeface="Times New Roman"/>
              </a:rPr>
              <a:t> La investigación tuvo un enfoque cuantitativo y fue de tipo aplicado, con un nivel descriptivo. El diseño fue no experimental y transversal, ya que se analizaron datos históricos sin manipular variables.</a:t>
            </a:r>
            <a:endParaRPr sz="1600" dirty="0">
              <a:solidFill>
                <a:schemeClr val="dk1"/>
              </a:solidFill>
              <a:latin typeface="Times New Roman"/>
              <a:ea typeface="Times New Roman"/>
              <a:cs typeface="Times New Roman"/>
              <a:sym typeface="Times New Roman"/>
            </a:endParaRPr>
          </a:p>
          <a:p>
            <a:pPr marL="457200" lvl="0" indent="-317500" algn="just" rtl="0">
              <a:lnSpc>
                <a:spcPct val="115000"/>
              </a:lnSpc>
              <a:spcBef>
                <a:spcPts val="0"/>
              </a:spcBef>
              <a:spcAft>
                <a:spcPts val="0"/>
              </a:spcAft>
              <a:buClr>
                <a:schemeClr val="dk1"/>
              </a:buClr>
              <a:buSzPts val="1400"/>
              <a:buChar char="●"/>
            </a:pPr>
            <a:r>
              <a:rPr lang="es-PE" sz="1600" b="1" dirty="0">
                <a:solidFill>
                  <a:schemeClr val="dk1"/>
                </a:solidFill>
                <a:latin typeface="Times New Roman"/>
                <a:ea typeface="Times New Roman"/>
                <a:cs typeface="Times New Roman"/>
                <a:sym typeface="Times New Roman"/>
              </a:rPr>
              <a:t>Modelo de desarrollo adoptado:</a:t>
            </a:r>
            <a:r>
              <a:rPr lang="es-PE" sz="1600" dirty="0">
                <a:solidFill>
                  <a:schemeClr val="dk1"/>
                </a:solidFill>
                <a:latin typeface="Times New Roman"/>
                <a:ea typeface="Times New Roman"/>
                <a:cs typeface="Times New Roman"/>
                <a:sym typeface="Times New Roman"/>
              </a:rPr>
              <a:t> Para el desarrollo de la solución tecnológica se empleó un enfoque basado en el Modelo en Cascada (</a:t>
            </a:r>
            <a:r>
              <a:rPr lang="es-PE" sz="1600" dirty="0" err="1">
                <a:solidFill>
                  <a:schemeClr val="dk1"/>
                </a:solidFill>
                <a:latin typeface="Times New Roman"/>
                <a:ea typeface="Times New Roman"/>
                <a:cs typeface="Times New Roman"/>
                <a:sym typeface="Times New Roman"/>
              </a:rPr>
              <a:t>Waterfall</a:t>
            </a:r>
            <a:r>
              <a:rPr lang="es-PE" sz="1600" dirty="0">
                <a:solidFill>
                  <a:schemeClr val="dk1"/>
                </a:solidFill>
                <a:latin typeface="Times New Roman"/>
                <a:ea typeface="Times New Roman"/>
                <a:cs typeface="Times New Roman"/>
                <a:sym typeface="Times New Roman"/>
              </a:rPr>
              <a:t>). Este se complementa con principios del Modelo de Prototipos, ya que el resultado es una solución funcional que valida la efectividad del análisis de densidad.</a:t>
            </a:r>
            <a:endParaRPr sz="1600" dirty="0">
              <a:solidFill>
                <a:schemeClr val="dk1"/>
              </a:solidFill>
              <a:latin typeface="Times New Roman"/>
              <a:ea typeface="Times New Roman"/>
              <a:cs typeface="Times New Roman"/>
              <a:sym typeface="Times New Roman"/>
            </a:endParaRPr>
          </a:p>
          <a:p>
            <a:pPr marL="457200" lvl="0" indent="-317500" algn="just" rtl="0">
              <a:lnSpc>
                <a:spcPct val="115000"/>
              </a:lnSpc>
              <a:spcBef>
                <a:spcPts val="0"/>
              </a:spcBef>
              <a:spcAft>
                <a:spcPts val="0"/>
              </a:spcAft>
              <a:buClr>
                <a:schemeClr val="dk1"/>
              </a:buClr>
              <a:buSzPts val="1400"/>
              <a:buFont typeface="Times New Roman"/>
              <a:buChar char="●"/>
            </a:pPr>
            <a:r>
              <a:rPr lang="es-PE" sz="1600" b="1" dirty="0">
                <a:solidFill>
                  <a:schemeClr val="dk1"/>
                </a:solidFill>
                <a:latin typeface="Times New Roman"/>
                <a:ea typeface="Times New Roman"/>
                <a:cs typeface="Times New Roman"/>
                <a:sym typeface="Times New Roman"/>
              </a:rPr>
              <a:t>Justificación del enfoque elegido:</a:t>
            </a:r>
            <a:endParaRPr sz="1600" b="1" dirty="0">
              <a:solidFill>
                <a:schemeClr val="dk1"/>
              </a:solidFill>
              <a:latin typeface="Times New Roman"/>
              <a:ea typeface="Times New Roman"/>
              <a:cs typeface="Times New Roman"/>
              <a:sym typeface="Times New Roman"/>
            </a:endParaRPr>
          </a:p>
          <a:p>
            <a:pPr marL="914400" lvl="1" indent="-317500" algn="just" rtl="0">
              <a:lnSpc>
                <a:spcPct val="115000"/>
              </a:lnSpc>
              <a:spcBef>
                <a:spcPts val="0"/>
              </a:spcBef>
              <a:spcAft>
                <a:spcPts val="0"/>
              </a:spcAft>
              <a:buClr>
                <a:schemeClr val="dk1"/>
              </a:buClr>
              <a:buSzPts val="1400"/>
              <a:buChar char="○"/>
            </a:pPr>
            <a:r>
              <a:rPr lang="es-PE" sz="1600" dirty="0">
                <a:solidFill>
                  <a:schemeClr val="dk1"/>
                </a:solidFill>
                <a:latin typeface="Times New Roman"/>
                <a:ea typeface="Times New Roman"/>
                <a:cs typeface="Times New Roman"/>
                <a:sym typeface="Times New Roman"/>
              </a:rPr>
              <a:t>Se eligió un enfoque cuantitativo porque permitió el análisis numérico y sistemático de grandes volúmenes de datos para identificar patrones horarios de infracciones.</a:t>
            </a:r>
            <a:endParaRPr sz="1600" dirty="0">
              <a:solidFill>
                <a:schemeClr val="dk1"/>
              </a:solidFill>
              <a:latin typeface="Times New Roman"/>
              <a:ea typeface="Times New Roman"/>
              <a:cs typeface="Times New Roman"/>
              <a:sym typeface="Times New Roman"/>
            </a:endParaRPr>
          </a:p>
          <a:p>
            <a:pPr marL="914400" lvl="1" indent="-317500" algn="just" rtl="0">
              <a:lnSpc>
                <a:spcPct val="115000"/>
              </a:lnSpc>
              <a:spcBef>
                <a:spcPts val="0"/>
              </a:spcBef>
              <a:spcAft>
                <a:spcPts val="0"/>
              </a:spcAft>
              <a:buClr>
                <a:schemeClr val="dk1"/>
              </a:buClr>
              <a:buSzPts val="1400"/>
              <a:buChar char="○"/>
            </a:pPr>
            <a:r>
              <a:rPr lang="es-PE" sz="1600" dirty="0">
                <a:solidFill>
                  <a:schemeClr val="dk1"/>
                </a:solidFill>
                <a:latin typeface="Times New Roman"/>
                <a:ea typeface="Times New Roman"/>
                <a:cs typeface="Times New Roman"/>
                <a:sym typeface="Times New Roman"/>
              </a:rPr>
              <a:t>El tipo aplicado se justifica porque el estudio busca resolver un problema práctico: optimizar la asignación de recursos de control vial en San Martín.</a:t>
            </a:r>
            <a:endParaRPr sz="1600" dirty="0">
              <a:solidFill>
                <a:schemeClr val="dk1"/>
              </a:solidFill>
              <a:latin typeface="Times New Roman"/>
              <a:ea typeface="Times New Roman"/>
              <a:cs typeface="Times New Roman"/>
              <a:sym typeface="Times New Roman"/>
            </a:endParaRPr>
          </a:p>
          <a:p>
            <a:pPr marL="914400" lvl="1" indent="-317500" algn="just" rtl="0">
              <a:lnSpc>
                <a:spcPct val="115000"/>
              </a:lnSpc>
              <a:spcBef>
                <a:spcPts val="0"/>
              </a:spcBef>
              <a:spcAft>
                <a:spcPts val="0"/>
              </a:spcAft>
              <a:buClr>
                <a:schemeClr val="dk1"/>
              </a:buClr>
              <a:buSzPts val="1400"/>
              <a:buChar char="○"/>
            </a:pPr>
            <a:r>
              <a:rPr lang="es-PE" sz="1600" dirty="0">
                <a:solidFill>
                  <a:schemeClr val="dk1"/>
                </a:solidFill>
                <a:latin typeface="Times New Roman"/>
                <a:ea typeface="Times New Roman"/>
                <a:cs typeface="Times New Roman"/>
                <a:sym typeface="Times New Roman"/>
              </a:rPr>
              <a:t>El modelo en cascada se adaptó bien al proceso secuencial del proyecto: </a:t>
            </a:r>
            <a:endParaRPr sz="1600" dirty="0">
              <a:solidFill>
                <a:schemeClr val="dk1"/>
              </a:solidFill>
              <a:latin typeface="Times New Roman"/>
              <a:ea typeface="Times New Roman"/>
              <a:cs typeface="Times New Roman"/>
              <a:sym typeface="Times New Roman"/>
            </a:endParaRPr>
          </a:p>
          <a:p>
            <a:pPr marL="1371600" lvl="2" indent="-317500" algn="just" rtl="0">
              <a:lnSpc>
                <a:spcPct val="115000"/>
              </a:lnSpc>
              <a:spcBef>
                <a:spcPts val="0"/>
              </a:spcBef>
              <a:spcAft>
                <a:spcPts val="0"/>
              </a:spcAft>
              <a:buClr>
                <a:schemeClr val="dk1"/>
              </a:buClr>
              <a:buSzPts val="1400"/>
              <a:buAutoNum type="romanLcPeriod"/>
            </a:pPr>
            <a:r>
              <a:rPr lang="es-PE" sz="1600" dirty="0">
                <a:solidFill>
                  <a:schemeClr val="dk1"/>
                </a:solidFill>
                <a:latin typeface="Times New Roman"/>
                <a:ea typeface="Times New Roman"/>
                <a:cs typeface="Times New Roman"/>
                <a:sym typeface="Times New Roman"/>
              </a:rPr>
              <a:t>Recolección de datos </a:t>
            </a:r>
            <a:endParaRPr sz="1600" dirty="0">
              <a:solidFill>
                <a:schemeClr val="dk1"/>
              </a:solidFill>
              <a:latin typeface="Times New Roman"/>
              <a:ea typeface="Times New Roman"/>
              <a:cs typeface="Times New Roman"/>
              <a:sym typeface="Times New Roman"/>
            </a:endParaRPr>
          </a:p>
          <a:p>
            <a:pPr marL="1371600" lvl="2" indent="-317500" algn="just" rtl="0">
              <a:lnSpc>
                <a:spcPct val="115000"/>
              </a:lnSpc>
              <a:spcBef>
                <a:spcPts val="0"/>
              </a:spcBef>
              <a:spcAft>
                <a:spcPts val="0"/>
              </a:spcAft>
              <a:buClr>
                <a:schemeClr val="dk1"/>
              </a:buClr>
              <a:buSzPts val="1400"/>
              <a:buAutoNum type="romanLcPeriod"/>
            </a:pPr>
            <a:r>
              <a:rPr lang="es-PE" sz="1600" dirty="0">
                <a:solidFill>
                  <a:schemeClr val="dk1"/>
                </a:solidFill>
                <a:latin typeface="Times New Roman"/>
                <a:ea typeface="Times New Roman"/>
                <a:cs typeface="Times New Roman"/>
                <a:sym typeface="Times New Roman"/>
              </a:rPr>
              <a:t>Diseño y estructuración ETL</a:t>
            </a:r>
            <a:endParaRPr sz="1600" dirty="0">
              <a:solidFill>
                <a:schemeClr val="dk1"/>
              </a:solidFill>
              <a:latin typeface="Times New Roman"/>
              <a:ea typeface="Times New Roman"/>
              <a:cs typeface="Times New Roman"/>
              <a:sym typeface="Times New Roman"/>
            </a:endParaRPr>
          </a:p>
          <a:p>
            <a:pPr marL="1371600" lvl="2" indent="-317500" algn="just" rtl="0">
              <a:lnSpc>
                <a:spcPct val="115000"/>
              </a:lnSpc>
              <a:spcBef>
                <a:spcPts val="0"/>
              </a:spcBef>
              <a:spcAft>
                <a:spcPts val="0"/>
              </a:spcAft>
              <a:buClr>
                <a:schemeClr val="dk1"/>
              </a:buClr>
              <a:buSzPts val="1400"/>
              <a:buAutoNum type="romanLcPeriod"/>
            </a:pPr>
            <a:r>
              <a:rPr lang="es-PE" sz="1600" dirty="0">
                <a:solidFill>
                  <a:schemeClr val="dk1"/>
                </a:solidFill>
                <a:latin typeface="Times New Roman"/>
                <a:ea typeface="Times New Roman"/>
                <a:cs typeface="Times New Roman"/>
                <a:sym typeface="Times New Roman"/>
              </a:rPr>
              <a:t>Implementación del algoritmo </a:t>
            </a:r>
            <a:endParaRPr sz="1600" dirty="0">
              <a:solidFill>
                <a:schemeClr val="dk1"/>
              </a:solidFill>
              <a:latin typeface="Times New Roman"/>
              <a:ea typeface="Times New Roman"/>
              <a:cs typeface="Times New Roman"/>
              <a:sym typeface="Times New Roman"/>
            </a:endParaRPr>
          </a:p>
          <a:p>
            <a:pPr marL="1371600" lvl="2" indent="-317500" algn="just" rtl="0">
              <a:lnSpc>
                <a:spcPct val="115000"/>
              </a:lnSpc>
              <a:spcBef>
                <a:spcPts val="0"/>
              </a:spcBef>
              <a:spcAft>
                <a:spcPts val="0"/>
              </a:spcAft>
              <a:buClr>
                <a:schemeClr val="dk1"/>
              </a:buClr>
              <a:buSzPts val="1400"/>
              <a:buAutoNum type="romanLcPeriod"/>
            </a:pPr>
            <a:r>
              <a:rPr lang="es-PE" sz="1600" dirty="0">
                <a:solidFill>
                  <a:schemeClr val="dk1"/>
                </a:solidFill>
                <a:latin typeface="Times New Roman"/>
                <a:ea typeface="Times New Roman"/>
                <a:cs typeface="Times New Roman"/>
                <a:sym typeface="Times New Roman"/>
              </a:rPr>
              <a:t>Pruebas y visualización de resultados.</a:t>
            </a:r>
            <a:endParaRPr sz="16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1200" dirty="0">
              <a:solidFill>
                <a:schemeClr val="dk1"/>
              </a:solidFill>
              <a:highlight>
                <a:schemeClr val="lt1"/>
              </a:highlight>
              <a:latin typeface="Times New Roman"/>
              <a:ea typeface="Times New Roman"/>
              <a:cs typeface="Times New Roman"/>
              <a:sym typeface="Times New Roman"/>
            </a:endParaRPr>
          </a:p>
          <a:p>
            <a:pPr marL="0" lvl="0" indent="0" algn="l" rtl="0">
              <a:spcBef>
                <a:spcPts val="0"/>
              </a:spcBef>
              <a:spcAft>
                <a:spcPts val="0"/>
              </a:spcAft>
              <a:buNone/>
            </a:pPr>
            <a:endParaRPr sz="1200" dirty="0"/>
          </a:p>
        </p:txBody>
      </p:sp>
      <p:pic>
        <p:nvPicPr>
          <p:cNvPr id="2" name="Google Shape;46;p1">
            <a:extLst>
              <a:ext uri="{FF2B5EF4-FFF2-40B4-BE49-F238E27FC236}">
                <a16:creationId xmlns:a16="http://schemas.microsoft.com/office/drawing/2014/main" id="{1750E307-7810-C845-6A18-6340CF651BBE}"/>
              </a:ext>
            </a:extLst>
          </p:cNvPr>
          <p:cNvPicPr preferRelativeResize="0"/>
          <p:nvPr/>
        </p:nvPicPr>
        <p:blipFill rotWithShape="1">
          <a:blip r:embed="rId3">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2D1964F8-8F95-820E-4FF6-8EA6196AD1EA}"/>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E32778FC-68B4-158D-0AD7-EF07D0AFA1A8}"/>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A742B9BC-033D-5D3D-4B78-EC6FA769B60E}"/>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D16BF2FE-FC2D-F76A-91A5-17877C642EBB}"/>
                  </a:ext>
                </a:extLst>
              </p:cNvPr>
              <p:cNvPicPr preferRelativeResize="0"/>
              <p:nvPr/>
            </p:nvPicPr>
            <p:blipFill rotWithShape="1">
              <a:blip r:embed="rId4">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79453181-3327-272B-995E-769027CB7669}"/>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g36f85b4a08f_5_16"/>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106" name="Google Shape;106;g36f85b4a08f_5_16"/>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5</a:t>
            </a:fld>
            <a:endParaRPr/>
          </a:p>
        </p:txBody>
      </p:sp>
      <p:sp>
        <p:nvSpPr>
          <p:cNvPr id="113" name="Google Shape;113;g36f85b4a08f_5_16"/>
          <p:cNvSpPr txBox="1"/>
          <p:nvPr/>
        </p:nvSpPr>
        <p:spPr>
          <a:xfrm>
            <a:off x="278080" y="1032179"/>
            <a:ext cx="8296960" cy="5139838"/>
          </a:xfrm>
          <a:prstGeom prst="rect">
            <a:avLst/>
          </a:prstGeom>
          <a:noFill/>
          <a:ln>
            <a:noFill/>
          </a:ln>
        </p:spPr>
        <p:txBody>
          <a:bodyPr spcFirstLastPara="1" wrap="square" lIns="91425" tIns="91425" rIns="91425" bIns="91425" anchor="t" anchorCtr="0">
            <a:spAutoFit/>
          </a:bodyPr>
          <a:lstStyle/>
          <a:p>
            <a:pPr marL="0" lvl="0" indent="0" algn="just" rtl="0">
              <a:lnSpc>
                <a:spcPct val="100000"/>
              </a:lnSpc>
              <a:spcBef>
                <a:spcPts val="1200"/>
              </a:spcBef>
              <a:spcAft>
                <a:spcPts val="0"/>
              </a:spcAft>
              <a:buNone/>
            </a:pPr>
            <a:r>
              <a:rPr lang="es-PE" sz="1800" b="1" dirty="0">
                <a:solidFill>
                  <a:schemeClr val="dk1"/>
                </a:solidFill>
                <a:latin typeface="Times New Roman"/>
                <a:ea typeface="Times New Roman"/>
                <a:cs typeface="Times New Roman"/>
                <a:sym typeface="Times New Roman"/>
              </a:rPr>
              <a:t>Objetivo del Prototipo</a:t>
            </a:r>
            <a:endParaRPr sz="1800" b="1" dirty="0">
              <a:solidFill>
                <a:schemeClr val="dk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s-PE" sz="1500" dirty="0">
                <a:solidFill>
                  <a:schemeClr val="dk1"/>
                </a:solidFill>
                <a:latin typeface="Times New Roman"/>
                <a:ea typeface="Times New Roman"/>
                <a:cs typeface="Times New Roman"/>
                <a:sym typeface="Times New Roman"/>
              </a:rPr>
              <a:t>Procesar registros históricos de infracciones para identificar y visualizar "puntos calientes" o clústeres de alta densidad horaria, apoyando así la toma de decisiones estratégicas en seguridad vial.</a:t>
            </a:r>
            <a:endParaRPr sz="1500" dirty="0">
              <a:solidFill>
                <a:schemeClr val="dk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s-PE" sz="1500" b="1" dirty="0">
                <a:solidFill>
                  <a:schemeClr val="dk1"/>
                </a:solidFill>
                <a:latin typeface="Times New Roman"/>
                <a:ea typeface="Times New Roman"/>
                <a:cs typeface="Times New Roman"/>
                <a:sym typeface="Times New Roman"/>
              </a:rPr>
              <a:t>Arquitectura y Tecnologías</a:t>
            </a:r>
            <a:endParaRPr sz="1500" b="1" dirty="0">
              <a:solidFill>
                <a:schemeClr val="dk1"/>
              </a:solidFill>
              <a:latin typeface="Times New Roman"/>
              <a:ea typeface="Times New Roman"/>
              <a:cs typeface="Times New Roman"/>
              <a:sym typeface="Times New Roman"/>
            </a:endParaRPr>
          </a:p>
          <a:p>
            <a:pPr marL="457200" lvl="0" indent="-323850" algn="just" rtl="0">
              <a:lnSpc>
                <a:spcPct val="100000"/>
              </a:lnSpc>
              <a:spcBef>
                <a:spcPts val="1200"/>
              </a:spcBef>
              <a:spcAft>
                <a:spcPts val="0"/>
              </a:spcAft>
              <a:buClr>
                <a:schemeClr val="dk1"/>
              </a:buClr>
              <a:buSzPts val="1500"/>
              <a:buChar char="●"/>
            </a:pPr>
            <a:r>
              <a:rPr lang="es-PE" sz="1500" b="1" dirty="0">
                <a:solidFill>
                  <a:schemeClr val="dk1"/>
                </a:solidFill>
                <a:latin typeface="Times New Roman"/>
                <a:ea typeface="Times New Roman"/>
                <a:cs typeface="Times New Roman"/>
                <a:sym typeface="Times New Roman"/>
              </a:rPr>
              <a:t>Lenguaje:</a:t>
            </a:r>
            <a:r>
              <a:rPr lang="es-PE" sz="1500" dirty="0">
                <a:solidFill>
                  <a:schemeClr val="dk1"/>
                </a:solidFill>
                <a:latin typeface="Times New Roman"/>
                <a:ea typeface="Times New Roman"/>
                <a:cs typeface="Times New Roman"/>
                <a:sym typeface="Times New Roman"/>
              </a:rPr>
              <a:t> Python 3.9.</a:t>
            </a:r>
            <a:endParaRPr sz="1500" dirty="0">
              <a:solidFill>
                <a:schemeClr val="dk1"/>
              </a:solidFill>
              <a:latin typeface="Times New Roman"/>
              <a:ea typeface="Times New Roman"/>
              <a:cs typeface="Times New Roman"/>
              <a:sym typeface="Times New Roman"/>
            </a:endParaRPr>
          </a:p>
          <a:p>
            <a:pPr marL="457200" lvl="0" indent="-323850" algn="just" rtl="0">
              <a:lnSpc>
                <a:spcPct val="100000"/>
              </a:lnSpc>
              <a:spcBef>
                <a:spcPts val="0"/>
              </a:spcBef>
              <a:spcAft>
                <a:spcPts val="0"/>
              </a:spcAft>
              <a:buClr>
                <a:schemeClr val="dk1"/>
              </a:buClr>
              <a:buSzPts val="1500"/>
              <a:buChar char="●"/>
            </a:pPr>
            <a:r>
              <a:rPr lang="es-PE" sz="1500" b="1" dirty="0">
                <a:solidFill>
                  <a:schemeClr val="dk1"/>
                </a:solidFill>
                <a:latin typeface="Times New Roman"/>
                <a:ea typeface="Times New Roman"/>
                <a:cs typeface="Times New Roman"/>
                <a:sym typeface="Times New Roman"/>
              </a:rPr>
              <a:t>Entorno de Desarrollo (IDE):</a:t>
            </a:r>
            <a:r>
              <a:rPr lang="es-PE" sz="1500" dirty="0">
                <a:solidFill>
                  <a:schemeClr val="dk1"/>
                </a:solidFill>
                <a:latin typeface="Times New Roman"/>
                <a:ea typeface="Times New Roman"/>
                <a:cs typeface="Times New Roman"/>
                <a:sym typeface="Times New Roman"/>
              </a:rPr>
              <a:t> IntelliJ IDEA.</a:t>
            </a:r>
            <a:endParaRPr sz="1500" dirty="0">
              <a:solidFill>
                <a:schemeClr val="dk1"/>
              </a:solidFill>
              <a:latin typeface="Times New Roman"/>
              <a:ea typeface="Times New Roman"/>
              <a:cs typeface="Times New Roman"/>
              <a:sym typeface="Times New Roman"/>
            </a:endParaRPr>
          </a:p>
          <a:p>
            <a:pPr marL="457200" lvl="0" indent="-323850" algn="just" rtl="0">
              <a:lnSpc>
                <a:spcPct val="100000"/>
              </a:lnSpc>
              <a:spcBef>
                <a:spcPts val="0"/>
              </a:spcBef>
              <a:spcAft>
                <a:spcPts val="0"/>
              </a:spcAft>
              <a:buClr>
                <a:schemeClr val="dk1"/>
              </a:buClr>
              <a:buSzPts val="1500"/>
              <a:buChar char="●"/>
            </a:pPr>
            <a:r>
              <a:rPr lang="es-PE" sz="1500" b="1" dirty="0">
                <a:solidFill>
                  <a:schemeClr val="dk1"/>
                </a:solidFill>
                <a:latin typeface="Times New Roman"/>
                <a:ea typeface="Times New Roman"/>
                <a:cs typeface="Times New Roman"/>
                <a:sym typeface="Times New Roman"/>
              </a:rPr>
              <a:t>Librerías Clave: </a:t>
            </a:r>
            <a:r>
              <a:rPr lang="es-PE" sz="1500" dirty="0">
                <a:solidFill>
                  <a:schemeClr val="dk1"/>
                </a:solidFill>
                <a:latin typeface="Times New Roman"/>
                <a:ea typeface="Times New Roman"/>
                <a:cs typeface="Times New Roman"/>
                <a:sym typeface="Times New Roman"/>
              </a:rPr>
              <a:t>pandas (para manipulación de datos), </a:t>
            </a:r>
            <a:r>
              <a:rPr lang="es-PE" sz="1500" dirty="0" err="1">
                <a:solidFill>
                  <a:schemeClr val="dk1"/>
                </a:solidFill>
                <a:latin typeface="Times New Roman"/>
                <a:ea typeface="Times New Roman"/>
                <a:cs typeface="Times New Roman"/>
                <a:sym typeface="Times New Roman"/>
              </a:rPr>
              <a:t>scikit-learn</a:t>
            </a:r>
            <a:r>
              <a:rPr lang="es-PE" sz="1500" dirty="0">
                <a:solidFill>
                  <a:schemeClr val="dk1"/>
                </a:solidFill>
                <a:latin typeface="Times New Roman"/>
                <a:ea typeface="Times New Roman"/>
                <a:cs typeface="Times New Roman"/>
                <a:sym typeface="Times New Roman"/>
              </a:rPr>
              <a:t> (para implementar el algoritmo DBSCAN), </a:t>
            </a:r>
            <a:r>
              <a:rPr lang="es-PE" sz="1500" dirty="0" err="1">
                <a:solidFill>
                  <a:schemeClr val="dk1"/>
                </a:solidFill>
                <a:latin typeface="Times New Roman"/>
                <a:ea typeface="Times New Roman"/>
                <a:cs typeface="Times New Roman"/>
                <a:sym typeface="Times New Roman"/>
              </a:rPr>
              <a:t>matplotlib</a:t>
            </a:r>
            <a:r>
              <a:rPr lang="es-PE" sz="1500" dirty="0">
                <a:solidFill>
                  <a:schemeClr val="dk1"/>
                </a:solidFill>
                <a:latin typeface="Times New Roman"/>
                <a:ea typeface="Times New Roman"/>
                <a:cs typeface="Times New Roman"/>
                <a:sym typeface="Times New Roman"/>
              </a:rPr>
              <a:t> (para la generación de gráficos).</a:t>
            </a:r>
            <a:endParaRPr sz="1500" dirty="0">
              <a:solidFill>
                <a:schemeClr val="dk1"/>
              </a:solidFill>
              <a:latin typeface="Times New Roman"/>
              <a:ea typeface="Times New Roman"/>
              <a:cs typeface="Times New Roman"/>
              <a:sym typeface="Times New Roman"/>
            </a:endParaRPr>
          </a:p>
          <a:p>
            <a:pPr marL="457200" lvl="0" indent="-323850" algn="just" rtl="0">
              <a:lnSpc>
                <a:spcPct val="100000"/>
              </a:lnSpc>
              <a:spcBef>
                <a:spcPts val="0"/>
              </a:spcBef>
              <a:spcAft>
                <a:spcPts val="0"/>
              </a:spcAft>
              <a:buClr>
                <a:schemeClr val="dk1"/>
              </a:buClr>
              <a:buSzPts val="1500"/>
              <a:buChar char="●"/>
            </a:pPr>
            <a:r>
              <a:rPr lang="es-PE" sz="1500" b="1" dirty="0">
                <a:solidFill>
                  <a:schemeClr val="dk1"/>
                </a:solidFill>
                <a:latin typeface="Times New Roman"/>
                <a:ea typeface="Times New Roman"/>
                <a:cs typeface="Times New Roman"/>
                <a:sym typeface="Times New Roman"/>
              </a:rPr>
              <a:t>Herramienta ETL:</a:t>
            </a:r>
            <a:r>
              <a:rPr lang="es-PE" sz="1500" dirty="0">
                <a:solidFill>
                  <a:schemeClr val="dk1"/>
                </a:solidFill>
                <a:latin typeface="Times New Roman"/>
                <a:ea typeface="Times New Roman"/>
                <a:cs typeface="Times New Roman"/>
                <a:sym typeface="Times New Roman"/>
              </a:rPr>
              <a:t> </a:t>
            </a:r>
            <a:r>
              <a:rPr lang="es-PE" sz="1500" dirty="0" err="1">
                <a:solidFill>
                  <a:schemeClr val="dk1"/>
                </a:solidFill>
                <a:latin typeface="Times New Roman"/>
                <a:ea typeface="Times New Roman"/>
                <a:cs typeface="Times New Roman"/>
                <a:sym typeface="Times New Roman"/>
              </a:rPr>
              <a:t>Power</a:t>
            </a:r>
            <a:r>
              <a:rPr lang="es-PE" sz="1500" dirty="0">
                <a:solidFill>
                  <a:schemeClr val="dk1"/>
                </a:solidFill>
                <a:latin typeface="Times New Roman"/>
                <a:ea typeface="Times New Roman"/>
                <a:cs typeface="Times New Roman"/>
                <a:sym typeface="Times New Roman"/>
              </a:rPr>
              <a:t> </a:t>
            </a:r>
            <a:r>
              <a:rPr lang="es-PE" sz="1500" dirty="0" err="1">
                <a:solidFill>
                  <a:schemeClr val="dk1"/>
                </a:solidFill>
                <a:latin typeface="Times New Roman"/>
                <a:ea typeface="Times New Roman"/>
                <a:cs typeface="Times New Roman"/>
                <a:sym typeface="Times New Roman"/>
              </a:rPr>
              <a:t>Pivot</a:t>
            </a:r>
            <a:r>
              <a:rPr lang="es-PE" sz="1500" dirty="0">
                <a:solidFill>
                  <a:schemeClr val="dk1"/>
                </a:solidFill>
                <a:latin typeface="Times New Roman"/>
                <a:ea typeface="Times New Roman"/>
                <a:cs typeface="Times New Roman"/>
                <a:sym typeface="Times New Roman"/>
              </a:rPr>
              <a:t> (en Excel) para la limpieza y transformación inicial de los datos.</a:t>
            </a:r>
            <a:endParaRPr sz="1500" dirty="0">
              <a:solidFill>
                <a:schemeClr val="dk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None/>
            </a:pPr>
            <a:r>
              <a:rPr lang="es-PE" sz="1500" b="1" dirty="0">
                <a:solidFill>
                  <a:schemeClr val="dk1"/>
                </a:solidFill>
                <a:latin typeface="Times New Roman"/>
                <a:ea typeface="Times New Roman"/>
                <a:cs typeface="Times New Roman"/>
                <a:sym typeface="Times New Roman"/>
              </a:rPr>
              <a:t>Requisitos del Sistema</a:t>
            </a:r>
            <a:endParaRPr sz="1500" b="1" dirty="0">
              <a:solidFill>
                <a:schemeClr val="dk1"/>
              </a:solidFill>
              <a:latin typeface="Times New Roman"/>
              <a:ea typeface="Times New Roman"/>
              <a:cs typeface="Times New Roman"/>
              <a:sym typeface="Times New Roman"/>
            </a:endParaRPr>
          </a:p>
          <a:p>
            <a:pPr marL="457200" lvl="0" indent="-323850" algn="just" rtl="0">
              <a:lnSpc>
                <a:spcPct val="100000"/>
              </a:lnSpc>
              <a:spcBef>
                <a:spcPts val="1200"/>
              </a:spcBef>
              <a:spcAft>
                <a:spcPts val="0"/>
              </a:spcAft>
              <a:buClr>
                <a:schemeClr val="dk1"/>
              </a:buClr>
              <a:buSzPts val="1500"/>
              <a:buFont typeface="Times New Roman"/>
              <a:buChar char="●"/>
            </a:pPr>
            <a:r>
              <a:rPr lang="es-PE" sz="1500" b="1" dirty="0">
                <a:solidFill>
                  <a:schemeClr val="dk1"/>
                </a:solidFill>
                <a:latin typeface="Times New Roman"/>
                <a:ea typeface="Times New Roman"/>
                <a:cs typeface="Times New Roman"/>
                <a:sym typeface="Times New Roman"/>
              </a:rPr>
              <a:t>Hardware Base:</a:t>
            </a:r>
            <a:endParaRPr sz="1500" b="1" dirty="0">
              <a:solidFill>
                <a:schemeClr val="dk1"/>
              </a:solidFill>
              <a:latin typeface="Times New Roman"/>
              <a:ea typeface="Times New Roman"/>
              <a:cs typeface="Times New Roman"/>
              <a:sym typeface="Times New Roman"/>
            </a:endParaRPr>
          </a:p>
          <a:p>
            <a:pPr marL="914400" lvl="1" indent="-323850" algn="just" rtl="0">
              <a:lnSpc>
                <a:spcPct val="100000"/>
              </a:lnSpc>
              <a:spcBef>
                <a:spcPts val="0"/>
              </a:spcBef>
              <a:spcAft>
                <a:spcPts val="0"/>
              </a:spcAft>
              <a:buClr>
                <a:schemeClr val="dk1"/>
              </a:buClr>
              <a:buSzPts val="1500"/>
              <a:buFont typeface="Times New Roman"/>
              <a:buChar char="○"/>
            </a:pPr>
            <a:r>
              <a:rPr lang="es-PE" sz="1500" dirty="0">
                <a:solidFill>
                  <a:schemeClr val="dk1"/>
                </a:solidFill>
                <a:latin typeface="Times New Roman"/>
                <a:ea typeface="Times New Roman"/>
                <a:cs typeface="Times New Roman"/>
                <a:sym typeface="Times New Roman"/>
              </a:rPr>
              <a:t>Laptop 2: Intel Core i7 12500H, 16 GB RAM.</a:t>
            </a:r>
            <a:endParaRPr sz="1500" dirty="0">
              <a:solidFill>
                <a:schemeClr val="dk1"/>
              </a:solidFill>
              <a:latin typeface="Times New Roman"/>
              <a:ea typeface="Times New Roman"/>
              <a:cs typeface="Times New Roman"/>
              <a:sym typeface="Times New Roman"/>
            </a:endParaRPr>
          </a:p>
          <a:p>
            <a:pPr marL="457200" lvl="0" indent="-323850" algn="just" rtl="0">
              <a:lnSpc>
                <a:spcPct val="100000"/>
              </a:lnSpc>
              <a:spcBef>
                <a:spcPts val="0"/>
              </a:spcBef>
              <a:spcAft>
                <a:spcPts val="0"/>
              </a:spcAft>
              <a:buClr>
                <a:schemeClr val="dk1"/>
              </a:buClr>
              <a:buSzPts val="1500"/>
              <a:buFont typeface="Times New Roman"/>
              <a:buChar char="●"/>
            </a:pPr>
            <a:r>
              <a:rPr lang="es-PE" sz="1500" b="1" dirty="0">
                <a:solidFill>
                  <a:schemeClr val="dk1"/>
                </a:solidFill>
                <a:latin typeface="Times New Roman"/>
                <a:ea typeface="Times New Roman"/>
                <a:cs typeface="Times New Roman"/>
                <a:sym typeface="Times New Roman"/>
              </a:rPr>
              <a:t>Datos de Entrada:</a:t>
            </a:r>
            <a:endParaRPr sz="1500" b="1" dirty="0">
              <a:solidFill>
                <a:schemeClr val="dk1"/>
              </a:solidFill>
              <a:latin typeface="Times New Roman"/>
              <a:ea typeface="Times New Roman"/>
              <a:cs typeface="Times New Roman"/>
              <a:sym typeface="Times New Roman"/>
            </a:endParaRPr>
          </a:p>
          <a:p>
            <a:pPr marL="914400" lvl="1" indent="-323850" algn="just" rtl="0">
              <a:lnSpc>
                <a:spcPct val="100000"/>
              </a:lnSpc>
              <a:spcBef>
                <a:spcPts val="0"/>
              </a:spcBef>
              <a:spcAft>
                <a:spcPts val="0"/>
              </a:spcAft>
              <a:buClr>
                <a:schemeClr val="dk1"/>
              </a:buClr>
              <a:buSzPts val="1500"/>
              <a:buChar char="○"/>
            </a:pPr>
            <a:r>
              <a:rPr lang="es-PE" sz="1500" b="1" dirty="0">
                <a:solidFill>
                  <a:schemeClr val="dk1"/>
                </a:solidFill>
                <a:latin typeface="Times New Roman"/>
                <a:ea typeface="Times New Roman"/>
                <a:cs typeface="Times New Roman"/>
                <a:sym typeface="Times New Roman"/>
              </a:rPr>
              <a:t>Fuente:</a:t>
            </a:r>
            <a:r>
              <a:rPr lang="es-PE" sz="1500" dirty="0">
                <a:solidFill>
                  <a:schemeClr val="dk1"/>
                </a:solidFill>
                <a:latin typeface="Times New Roman"/>
                <a:ea typeface="Times New Roman"/>
                <a:cs typeface="Times New Roman"/>
                <a:sym typeface="Times New Roman"/>
              </a:rPr>
              <a:t> Portal de Datos Abiertos del Perú.</a:t>
            </a:r>
            <a:endParaRPr sz="1500" dirty="0">
              <a:solidFill>
                <a:schemeClr val="dk1"/>
              </a:solidFill>
              <a:latin typeface="Times New Roman"/>
              <a:ea typeface="Times New Roman"/>
              <a:cs typeface="Times New Roman"/>
              <a:sym typeface="Times New Roman"/>
            </a:endParaRPr>
          </a:p>
          <a:p>
            <a:pPr marL="914400" lvl="1" indent="-323850" algn="just" rtl="0">
              <a:lnSpc>
                <a:spcPct val="100000"/>
              </a:lnSpc>
              <a:spcBef>
                <a:spcPts val="0"/>
              </a:spcBef>
              <a:spcAft>
                <a:spcPts val="0"/>
              </a:spcAft>
              <a:buClr>
                <a:schemeClr val="dk1"/>
              </a:buClr>
              <a:buSzPts val="1500"/>
              <a:buChar char="○"/>
            </a:pPr>
            <a:r>
              <a:rPr lang="es-PE" sz="1500" b="1" dirty="0">
                <a:solidFill>
                  <a:schemeClr val="dk1"/>
                </a:solidFill>
                <a:latin typeface="Times New Roman"/>
                <a:ea typeface="Times New Roman"/>
                <a:cs typeface="Times New Roman"/>
                <a:sym typeface="Times New Roman"/>
              </a:rPr>
              <a:t>Formato:</a:t>
            </a:r>
            <a:r>
              <a:rPr lang="es-PE" sz="1500" dirty="0">
                <a:solidFill>
                  <a:schemeClr val="dk1"/>
                </a:solidFill>
                <a:latin typeface="Times New Roman"/>
                <a:ea typeface="Times New Roman"/>
                <a:cs typeface="Times New Roman"/>
                <a:sym typeface="Times New Roman"/>
              </a:rPr>
              <a:t> Archivos CSV con registros de infracciones.</a:t>
            </a:r>
            <a:endParaRPr sz="1500" b="1" dirty="0">
              <a:solidFill>
                <a:schemeClr val="dk1"/>
              </a:solidFill>
            </a:endParaRPr>
          </a:p>
          <a:p>
            <a:pPr marL="0" lvl="0" indent="0" algn="l" rtl="0">
              <a:spcBef>
                <a:spcPts val="1200"/>
              </a:spcBef>
              <a:spcAft>
                <a:spcPts val="0"/>
              </a:spcAft>
              <a:buNone/>
            </a:pPr>
            <a:endParaRPr sz="1200" dirty="0">
              <a:solidFill>
                <a:srgbClr val="FF0000"/>
              </a:solidFill>
            </a:endParaRPr>
          </a:p>
          <a:p>
            <a:pPr marL="0" lvl="0" indent="0" algn="l" rtl="0">
              <a:spcBef>
                <a:spcPts val="0"/>
              </a:spcBef>
              <a:spcAft>
                <a:spcPts val="0"/>
              </a:spcAft>
              <a:buNone/>
            </a:pPr>
            <a:endParaRPr sz="1200" dirty="0"/>
          </a:p>
        </p:txBody>
      </p:sp>
      <p:pic>
        <p:nvPicPr>
          <p:cNvPr id="2" name="Google Shape;46;p1">
            <a:extLst>
              <a:ext uri="{FF2B5EF4-FFF2-40B4-BE49-F238E27FC236}">
                <a16:creationId xmlns:a16="http://schemas.microsoft.com/office/drawing/2014/main" id="{B388900B-6332-D2DD-5DCA-23372650FEE4}"/>
              </a:ext>
            </a:extLst>
          </p:cNvPr>
          <p:cNvPicPr preferRelativeResize="0"/>
          <p:nvPr/>
        </p:nvPicPr>
        <p:blipFill rotWithShape="1">
          <a:blip r:embed="rId3">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13AF7CD8-D86A-16B2-39FC-F569CC30758C}"/>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EC5061E9-8233-FD3F-68C0-E8D78E83BFCC}"/>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DD60AA68-FB06-4435-CD28-99CA81DED079}"/>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03E5A153-3B9E-9C07-A182-FF388EE3A140}"/>
                  </a:ext>
                </a:extLst>
              </p:cNvPr>
              <p:cNvPicPr preferRelativeResize="0"/>
              <p:nvPr/>
            </p:nvPicPr>
            <p:blipFill rotWithShape="1">
              <a:blip r:embed="rId4">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D0AC046A-DB8C-E3B4-82A8-9B5CA668F86F}"/>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9" name="Google Shape;119;g36f85b4a08f_5_31"/>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120" name="Google Shape;120;g36f85b4a08f_5_31"/>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6</a:t>
            </a:fld>
            <a:endParaRPr/>
          </a:p>
        </p:txBody>
      </p:sp>
      <p:sp>
        <p:nvSpPr>
          <p:cNvPr id="127" name="Google Shape;127;g36f85b4a08f_5_31"/>
          <p:cNvSpPr txBox="1"/>
          <p:nvPr/>
        </p:nvSpPr>
        <p:spPr>
          <a:xfrm>
            <a:off x="793927" y="1070715"/>
            <a:ext cx="10274400" cy="22586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1200"/>
              </a:spcBef>
              <a:spcAft>
                <a:spcPts val="0"/>
              </a:spcAft>
              <a:buNone/>
            </a:pPr>
            <a:r>
              <a:rPr lang="es-PE" sz="1800" b="1" dirty="0">
                <a:solidFill>
                  <a:schemeClr val="dk1"/>
                </a:solidFill>
                <a:latin typeface="Times New Roman"/>
                <a:ea typeface="Times New Roman"/>
                <a:cs typeface="Times New Roman"/>
                <a:sym typeface="Times New Roman"/>
              </a:rPr>
              <a:t>Interpretación de los Entregables</a:t>
            </a:r>
            <a:endParaRPr sz="1800" b="1" dirty="0">
              <a:solidFill>
                <a:schemeClr val="dk1"/>
              </a:solidFill>
              <a:latin typeface="Times New Roman"/>
              <a:ea typeface="Times New Roman"/>
              <a:cs typeface="Times New Roman"/>
              <a:sym typeface="Times New Roman"/>
            </a:endParaRPr>
          </a:p>
          <a:p>
            <a:pPr marL="457200" lvl="0" indent="-323850" algn="just" rtl="0">
              <a:lnSpc>
                <a:spcPct val="100000"/>
              </a:lnSpc>
              <a:spcBef>
                <a:spcPts val="1200"/>
              </a:spcBef>
              <a:spcAft>
                <a:spcPts val="0"/>
              </a:spcAft>
              <a:buClr>
                <a:schemeClr val="dk1"/>
              </a:buClr>
              <a:buSzPts val="1500"/>
              <a:buChar char="●"/>
            </a:pPr>
            <a:r>
              <a:rPr lang="es-PE" sz="1500" b="1" dirty="0">
                <a:solidFill>
                  <a:schemeClr val="dk1"/>
                </a:solidFill>
                <a:latin typeface="Times New Roman"/>
                <a:ea typeface="Times New Roman"/>
                <a:cs typeface="Times New Roman"/>
                <a:sym typeface="Times New Roman"/>
              </a:rPr>
              <a:t>Visualizaciones:</a:t>
            </a:r>
            <a:r>
              <a:rPr lang="es-PE" sz="1500" dirty="0">
                <a:solidFill>
                  <a:schemeClr val="dk1"/>
                </a:solidFill>
                <a:latin typeface="Times New Roman"/>
                <a:ea typeface="Times New Roman"/>
                <a:cs typeface="Times New Roman"/>
                <a:sym typeface="Times New Roman"/>
              </a:rPr>
              <a:t> Se generan gráficos (mapas de densidad horaria) en formato PNG y PDF para cada provincia.</a:t>
            </a:r>
            <a:endParaRPr sz="1500" dirty="0">
              <a:solidFill>
                <a:schemeClr val="dk1"/>
              </a:solidFill>
              <a:latin typeface="Times New Roman"/>
              <a:ea typeface="Times New Roman"/>
              <a:cs typeface="Times New Roman"/>
              <a:sym typeface="Times New Roman"/>
            </a:endParaRPr>
          </a:p>
          <a:p>
            <a:pPr marL="914400" lvl="1" indent="-323850" algn="just" rtl="0">
              <a:lnSpc>
                <a:spcPct val="100000"/>
              </a:lnSpc>
              <a:spcBef>
                <a:spcPts val="0"/>
              </a:spcBef>
              <a:spcAft>
                <a:spcPts val="0"/>
              </a:spcAft>
              <a:buClr>
                <a:schemeClr val="dk1"/>
              </a:buClr>
              <a:buSzPts val="1500"/>
              <a:buChar char="○"/>
            </a:pPr>
            <a:r>
              <a:rPr lang="es-PE" sz="1500" dirty="0">
                <a:solidFill>
                  <a:schemeClr val="dk1"/>
                </a:solidFill>
                <a:latin typeface="Times New Roman"/>
                <a:ea typeface="Times New Roman"/>
                <a:cs typeface="Times New Roman"/>
                <a:sym typeface="Times New Roman"/>
              </a:rPr>
              <a:t>Clústeres (Puntos de Colores): Representan los "puntos calientes" o las horas con alta concentración de infracciones.</a:t>
            </a:r>
            <a:endParaRPr sz="1500" dirty="0">
              <a:solidFill>
                <a:schemeClr val="dk1"/>
              </a:solidFill>
              <a:latin typeface="Times New Roman"/>
              <a:ea typeface="Times New Roman"/>
              <a:cs typeface="Times New Roman"/>
              <a:sym typeface="Times New Roman"/>
            </a:endParaRPr>
          </a:p>
          <a:p>
            <a:pPr marL="914400" lvl="1" indent="-323850" algn="just" rtl="0">
              <a:lnSpc>
                <a:spcPct val="100000"/>
              </a:lnSpc>
              <a:spcBef>
                <a:spcPts val="0"/>
              </a:spcBef>
              <a:spcAft>
                <a:spcPts val="0"/>
              </a:spcAft>
              <a:buClr>
                <a:schemeClr val="dk1"/>
              </a:buClr>
              <a:buSzPts val="1500"/>
              <a:buChar char="○"/>
            </a:pPr>
            <a:r>
              <a:rPr lang="es-PE" sz="1500" dirty="0">
                <a:solidFill>
                  <a:schemeClr val="dk1"/>
                </a:solidFill>
                <a:latin typeface="Times New Roman"/>
                <a:ea typeface="Times New Roman"/>
                <a:cs typeface="Times New Roman"/>
                <a:sym typeface="Times New Roman"/>
              </a:rPr>
              <a:t>"Ruido" (Puntos Aislados): Son infracciones esporádicas o eventos atípicos (</a:t>
            </a:r>
            <a:r>
              <a:rPr lang="es-PE" sz="1500" dirty="0" err="1">
                <a:solidFill>
                  <a:schemeClr val="dk1"/>
                </a:solidFill>
                <a:latin typeface="Times New Roman"/>
                <a:ea typeface="Times New Roman"/>
                <a:cs typeface="Times New Roman"/>
                <a:sym typeface="Times New Roman"/>
              </a:rPr>
              <a:t>outliers</a:t>
            </a:r>
            <a:r>
              <a:rPr lang="es-PE" sz="1500" dirty="0">
                <a:solidFill>
                  <a:schemeClr val="dk1"/>
                </a:solidFill>
                <a:latin typeface="Times New Roman"/>
                <a:ea typeface="Times New Roman"/>
                <a:cs typeface="Times New Roman"/>
                <a:sym typeface="Times New Roman"/>
              </a:rPr>
              <a:t>) que no pertenecen a ningún grupo denso.</a:t>
            </a:r>
            <a:endParaRPr sz="1500" dirty="0">
              <a:solidFill>
                <a:schemeClr val="dk1"/>
              </a:solidFill>
              <a:latin typeface="Times New Roman"/>
              <a:ea typeface="Times New Roman"/>
              <a:cs typeface="Times New Roman"/>
              <a:sym typeface="Times New Roman"/>
            </a:endParaRPr>
          </a:p>
          <a:p>
            <a:pPr marL="457200" lvl="0" indent="-323850" algn="just" rtl="0">
              <a:lnSpc>
                <a:spcPct val="100000"/>
              </a:lnSpc>
              <a:spcBef>
                <a:spcPts val="0"/>
              </a:spcBef>
              <a:spcAft>
                <a:spcPts val="0"/>
              </a:spcAft>
              <a:buClr>
                <a:schemeClr val="dk1"/>
              </a:buClr>
              <a:buSzPts val="1500"/>
              <a:buChar char="●"/>
            </a:pPr>
            <a:r>
              <a:rPr lang="es-PE" sz="1500" b="1" dirty="0">
                <a:solidFill>
                  <a:schemeClr val="dk1"/>
                </a:solidFill>
                <a:latin typeface="Times New Roman"/>
                <a:ea typeface="Times New Roman"/>
                <a:cs typeface="Times New Roman"/>
                <a:sym typeface="Times New Roman"/>
              </a:rPr>
              <a:t>Tablas de Resultados:</a:t>
            </a:r>
            <a:r>
              <a:rPr lang="es-PE" sz="1500" dirty="0">
                <a:solidFill>
                  <a:schemeClr val="dk1"/>
                </a:solidFill>
                <a:latin typeface="Times New Roman"/>
                <a:ea typeface="Times New Roman"/>
                <a:cs typeface="Times New Roman"/>
                <a:sym typeface="Times New Roman"/>
              </a:rPr>
              <a:t> Se generan archivos que resumen los agrupamientos por hora y provincia, listos para ser usados por las autoridades.</a:t>
            </a:r>
            <a:endParaRPr sz="1200" dirty="0"/>
          </a:p>
        </p:txBody>
      </p:sp>
      <p:pic>
        <p:nvPicPr>
          <p:cNvPr id="128" name="Google Shape;128;g36f85b4a08f_5_31"/>
          <p:cNvPicPr preferRelativeResize="0"/>
          <p:nvPr/>
        </p:nvPicPr>
        <p:blipFill rotWithShape="1">
          <a:blip r:embed="rId3">
            <a:alphaModFix/>
          </a:blip>
          <a:srcRect t="14086" b="13783"/>
          <a:stretch/>
        </p:blipFill>
        <p:spPr>
          <a:xfrm>
            <a:off x="2052319" y="3365793"/>
            <a:ext cx="7757615" cy="2542438"/>
          </a:xfrm>
          <a:prstGeom prst="rect">
            <a:avLst/>
          </a:prstGeom>
          <a:noFill/>
          <a:ln>
            <a:noFill/>
          </a:ln>
        </p:spPr>
      </p:pic>
      <p:pic>
        <p:nvPicPr>
          <p:cNvPr id="2" name="Google Shape;46;p1">
            <a:extLst>
              <a:ext uri="{FF2B5EF4-FFF2-40B4-BE49-F238E27FC236}">
                <a16:creationId xmlns:a16="http://schemas.microsoft.com/office/drawing/2014/main" id="{48AACAA3-CFCC-A0ED-60AE-0935C255A4BC}"/>
              </a:ext>
            </a:extLst>
          </p:cNvPr>
          <p:cNvPicPr preferRelativeResize="0"/>
          <p:nvPr/>
        </p:nvPicPr>
        <p:blipFill rotWithShape="1">
          <a:blip r:embed="rId4">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67F6CDFC-2722-5D2D-21E5-32AF9DBC74F8}"/>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B8924704-A41F-F100-119B-C8B99CEDC508}"/>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8F861EB5-BB2B-C122-E9A1-31948A20370E}"/>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99B207EB-0AA5-921C-D6FB-2C7FB6C0280B}"/>
                  </a:ext>
                </a:extLst>
              </p:cNvPr>
              <p:cNvPicPr preferRelativeResize="0"/>
              <p:nvPr/>
            </p:nvPicPr>
            <p:blipFill rotWithShape="1">
              <a:blip r:embed="rId5">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10C137F6-B7E3-69F5-CC9A-44F1DD3AA882}"/>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g36f85b4a08f_0_3"/>
          <p:cNvPicPr preferRelativeResize="0"/>
          <p:nvPr/>
        </p:nvPicPr>
        <p:blipFill>
          <a:blip r:embed="rId3">
            <a:alphaModFix/>
          </a:blip>
          <a:stretch>
            <a:fillRect/>
          </a:stretch>
        </p:blipFill>
        <p:spPr>
          <a:xfrm>
            <a:off x="1093650" y="3840453"/>
            <a:ext cx="4736175" cy="2685682"/>
          </a:xfrm>
          <a:prstGeom prst="rect">
            <a:avLst/>
          </a:prstGeom>
          <a:noFill/>
          <a:ln>
            <a:noFill/>
          </a:ln>
        </p:spPr>
      </p:pic>
      <p:pic>
        <p:nvPicPr>
          <p:cNvPr id="134" name="Google Shape;134;g36f85b4a08f_0_3"/>
          <p:cNvPicPr preferRelativeResize="0"/>
          <p:nvPr/>
        </p:nvPicPr>
        <p:blipFill>
          <a:blip r:embed="rId4">
            <a:alphaModFix/>
          </a:blip>
          <a:stretch>
            <a:fillRect/>
          </a:stretch>
        </p:blipFill>
        <p:spPr>
          <a:xfrm>
            <a:off x="808290" y="1946164"/>
            <a:ext cx="8520645" cy="1708400"/>
          </a:xfrm>
          <a:prstGeom prst="rect">
            <a:avLst/>
          </a:prstGeom>
          <a:noFill/>
          <a:ln>
            <a:noFill/>
          </a:ln>
        </p:spPr>
      </p:pic>
      <p:sp>
        <p:nvSpPr>
          <p:cNvPr id="136" name="Google Shape;136;g36f85b4a08f_0_3"/>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137" name="Google Shape;137;g36f85b4a08f_0_3"/>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7</a:t>
            </a:fld>
            <a:endParaRPr/>
          </a:p>
        </p:txBody>
      </p:sp>
      <p:sp>
        <p:nvSpPr>
          <p:cNvPr id="138" name="Google Shape;138;g36f85b4a08f_0_3"/>
          <p:cNvSpPr txBox="1"/>
          <p:nvPr/>
        </p:nvSpPr>
        <p:spPr>
          <a:xfrm>
            <a:off x="428988" y="761519"/>
            <a:ext cx="6997971" cy="623207"/>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i="0" u="none" strike="noStrike" cap="none" dirty="0">
                <a:solidFill>
                  <a:srgbClr val="000000"/>
                </a:solidFill>
                <a:latin typeface="Times New Roman"/>
                <a:ea typeface="Times New Roman"/>
                <a:cs typeface="Times New Roman"/>
                <a:sym typeface="Times New Roman"/>
              </a:rPr>
              <a:t>Capítulo II: Desarrollo de la </a:t>
            </a:r>
            <a:r>
              <a:rPr lang="es-PE" sz="3000" b="1" dirty="0">
                <a:latin typeface="Times New Roman"/>
                <a:ea typeface="Times New Roman"/>
                <a:cs typeface="Times New Roman"/>
                <a:sym typeface="Times New Roman"/>
              </a:rPr>
              <a:t>solución T.</a:t>
            </a:r>
            <a:r>
              <a:rPr lang="es-PE" sz="3000" b="1" i="0" u="none" strike="noStrike" cap="none" dirty="0">
                <a:solidFill>
                  <a:srgbClr val="000000"/>
                </a:solidFill>
                <a:latin typeface="Times New Roman"/>
                <a:ea typeface="Times New Roman"/>
                <a:cs typeface="Times New Roman"/>
                <a:sym typeface="Times New Roman"/>
              </a:rPr>
              <a:t> </a:t>
            </a:r>
            <a:endParaRPr sz="3000" b="0" i="0" u="none" strike="noStrike" cap="none" dirty="0">
              <a:solidFill>
                <a:srgbClr val="000000"/>
              </a:solidFill>
              <a:latin typeface="Times New Roman"/>
              <a:ea typeface="Times New Roman"/>
              <a:cs typeface="Times New Roman"/>
              <a:sym typeface="Times New Roman"/>
            </a:endParaRPr>
          </a:p>
        </p:txBody>
      </p:sp>
      <p:sp>
        <p:nvSpPr>
          <p:cNvPr id="144" name="Google Shape;144;g36f85b4a08f_0_3"/>
          <p:cNvSpPr txBox="1"/>
          <p:nvPr/>
        </p:nvSpPr>
        <p:spPr>
          <a:xfrm>
            <a:off x="311925" y="1611013"/>
            <a:ext cx="5517900" cy="738633"/>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rabicPeriod"/>
            </a:pPr>
            <a:r>
              <a:rPr lang="es-PE" sz="1800" b="1">
                <a:latin typeface="+mj-lt"/>
              </a:rPr>
              <a:t>Recolección</a:t>
            </a:r>
            <a:endParaRPr sz="1800" b="1">
              <a:latin typeface="+mj-lt"/>
            </a:endParaRPr>
          </a:p>
          <a:p>
            <a:pPr marL="0" lvl="0" indent="0" algn="l" rtl="0">
              <a:spcBef>
                <a:spcPts val="0"/>
              </a:spcBef>
              <a:spcAft>
                <a:spcPts val="0"/>
              </a:spcAft>
              <a:buNone/>
            </a:pPr>
            <a:endParaRPr sz="1800" b="1">
              <a:latin typeface="+mj-lt"/>
            </a:endParaRPr>
          </a:p>
        </p:txBody>
      </p:sp>
      <p:pic>
        <p:nvPicPr>
          <p:cNvPr id="145" name="Google Shape;145;g36f85b4a08f_0_3"/>
          <p:cNvPicPr preferRelativeResize="0"/>
          <p:nvPr/>
        </p:nvPicPr>
        <p:blipFill>
          <a:blip r:embed="rId5">
            <a:alphaModFix/>
          </a:blip>
          <a:stretch>
            <a:fillRect/>
          </a:stretch>
        </p:blipFill>
        <p:spPr>
          <a:xfrm>
            <a:off x="5960956" y="4090530"/>
            <a:ext cx="5848350" cy="809625"/>
          </a:xfrm>
          <a:prstGeom prst="rect">
            <a:avLst/>
          </a:prstGeom>
          <a:noFill/>
          <a:ln>
            <a:noFill/>
          </a:ln>
        </p:spPr>
      </p:pic>
      <p:pic>
        <p:nvPicPr>
          <p:cNvPr id="2" name="Google Shape;46;p1">
            <a:extLst>
              <a:ext uri="{FF2B5EF4-FFF2-40B4-BE49-F238E27FC236}">
                <a16:creationId xmlns:a16="http://schemas.microsoft.com/office/drawing/2014/main" id="{B4AA28A0-4D5D-9C17-216F-65E630D369EA}"/>
              </a:ext>
            </a:extLst>
          </p:cNvPr>
          <p:cNvPicPr preferRelativeResize="0"/>
          <p:nvPr/>
        </p:nvPicPr>
        <p:blipFill rotWithShape="1">
          <a:blip r:embed="rId6">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CBB46EAD-5933-C553-692C-D5C85EB0A3BB}"/>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E0B3169E-8F52-2797-C720-3C50531BBB16}"/>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62FAEF41-5B50-D1EF-AB7B-D75A7AED0B48}"/>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6A6F79FD-448C-82D4-D023-919D5E578A93}"/>
                  </a:ext>
                </a:extLst>
              </p:cNvPr>
              <p:cNvPicPr preferRelativeResize="0"/>
              <p:nvPr/>
            </p:nvPicPr>
            <p:blipFill rotWithShape="1">
              <a:blip r:embed="rId7">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F8C5BE81-E8AD-A4C5-AEE3-7AE4CBD5FD8C}"/>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g36f85b4a08f_0_23"/>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152" name="Google Shape;152;g36f85b4a08f_0_23"/>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8</a:t>
            </a:fld>
            <a:endParaRPr/>
          </a:p>
        </p:txBody>
      </p:sp>
      <p:sp>
        <p:nvSpPr>
          <p:cNvPr id="153" name="Google Shape;153;g36f85b4a08f_0_23"/>
          <p:cNvSpPr txBox="1"/>
          <p:nvPr/>
        </p:nvSpPr>
        <p:spPr>
          <a:xfrm>
            <a:off x="406890" y="983585"/>
            <a:ext cx="7335002" cy="623207"/>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i="0" u="none" strike="noStrike" cap="none" dirty="0">
                <a:solidFill>
                  <a:srgbClr val="000000"/>
                </a:solidFill>
                <a:latin typeface="Times New Roman"/>
                <a:ea typeface="Times New Roman"/>
                <a:cs typeface="Times New Roman"/>
                <a:sym typeface="Times New Roman"/>
              </a:rPr>
              <a:t>Capítulo II: Desarrollo de la </a:t>
            </a:r>
            <a:r>
              <a:rPr lang="es-PE" sz="3000" b="1" dirty="0">
                <a:latin typeface="Times New Roman"/>
                <a:ea typeface="Times New Roman"/>
                <a:cs typeface="Times New Roman"/>
                <a:sym typeface="Times New Roman"/>
              </a:rPr>
              <a:t>solución T.</a:t>
            </a:r>
            <a:r>
              <a:rPr lang="es-PE" sz="3000" b="1" i="0" u="none" strike="noStrike" cap="none" dirty="0">
                <a:solidFill>
                  <a:srgbClr val="000000"/>
                </a:solidFill>
                <a:latin typeface="Times New Roman"/>
                <a:ea typeface="Times New Roman"/>
                <a:cs typeface="Times New Roman"/>
                <a:sym typeface="Times New Roman"/>
              </a:rPr>
              <a:t> </a:t>
            </a:r>
            <a:endParaRPr sz="3000" b="0" i="0" u="none" strike="noStrike" cap="none" dirty="0">
              <a:solidFill>
                <a:srgbClr val="000000"/>
              </a:solidFill>
              <a:latin typeface="Times New Roman"/>
              <a:ea typeface="Times New Roman"/>
              <a:cs typeface="Times New Roman"/>
              <a:sym typeface="Times New Roman"/>
            </a:endParaRPr>
          </a:p>
        </p:txBody>
      </p:sp>
      <p:sp>
        <p:nvSpPr>
          <p:cNvPr id="159" name="Google Shape;159;g36f85b4a08f_0_23"/>
          <p:cNvSpPr txBox="1"/>
          <p:nvPr/>
        </p:nvSpPr>
        <p:spPr>
          <a:xfrm>
            <a:off x="175893" y="1711630"/>
            <a:ext cx="5517900" cy="67707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PE" sz="1600" b="1"/>
              <a:t>2. Transformación - Limpieza de datos</a:t>
            </a:r>
            <a:endParaRPr sz="1600" b="1"/>
          </a:p>
          <a:p>
            <a:pPr marL="0" lvl="0" indent="0" algn="l" rtl="0">
              <a:spcBef>
                <a:spcPts val="0"/>
              </a:spcBef>
              <a:spcAft>
                <a:spcPts val="0"/>
              </a:spcAft>
              <a:buNone/>
            </a:pPr>
            <a:endParaRPr sz="1600" b="1"/>
          </a:p>
        </p:txBody>
      </p:sp>
      <p:pic>
        <p:nvPicPr>
          <p:cNvPr id="160" name="Google Shape;160;g36f85b4a08f_0_23"/>
          <p:cNvPicPr preferRelativeResize="0"/>
          <p:nvPr/>
        </p:nvPicPr>
        <p:blipFill>
          <a:blip r:embed="rId3">
            <a:alphaModFix/>
          </a:blip>
          <a:stretch>
            <a:fillRect/>
          </a:stretch>
        </p:blipFill>
        <p:spPr>
          <a:xfrm>
            <a:off x="175893" y="2409284"/>
            <a:ext cx="5238868" cy="3808329"/>
          </a:xfrm>
          <a:prstGeom prst="rect">
            <a:avLst/>
          </a:prstGeom>
          <a:noFill/>
          <a:ln>
            <a:noFill/>
          </a:ln>
        </p:spPr>
      </p:pic>
      <p:pic>
        <p:nvPicPr>
          <p:cNvPr id="161" name="Google Shape;161;g36f85b4a08f_0_23"/>
          <p:cNvPicPr preferRelativeResize="0"/>
          <p:nvPr/>
        </p:nvPicPr>
        <p:blipFill>
          <a:blip r:embed="rId4">
            <a:alphaModFix/>
          </a:blip>
          <a:stretch>
            <a:fillRect/>
          </a:stretch>
        </p:blipFill>
        <p:spPr>
          <a:xfrm>
            <a:off x="5602600" y="1791397"/>
            <a:ext cx="6413507" cy="2994571"/>
          </a:xfrm>
          <a:prstGeom prst="rect">
            <a:avLst/>
          </a:prstGeom>
          <a:noFill/>
          <a:ln>
            <a:noFill/>
          </a:ln>
        </p:spPr>
      </p:pic>
      <p:pic>
        <p:nvPicPr>
          <p:cNvPr id="162" name="Google Shape;162;g36f85b4a08f_0_23"/>
          <p:cNvPicPr preferRelativeResize="0"/>
          <p:nvPr/>
        </p:nvPicPr>
        <p:blipFill>
          <a:blip r:embed="rId5">
            <a:alphaModFix/>
          </a:blip>
          <a:stretch>
            <a:fillRect/>
          </a:stretch>
        </p:blipFill>
        <p:spPr>
          <a:xfrm>
            <a:off x="8592950" y="3226247"/>
            <a:ext cx="3333750" cy="3228975"/>
          </a:xfrm>
          <a:prstGeom prst="rect">
            <a:avLst/>
          </a:prstGeom>
          <a:noFill/>
          <a:ln>
            <a:noFill/>
          </a:ln>
        </p:spPr>
      </p:pic>
      <p:pic>
        <p:nvPicPr>
          <p:cNvPr id="2" name="Google Shape;46;p1">
            <a:extLst>
              <a:ext uri="{FF2B5EF4-FFF2-40B4-BE49-F238E27FC236}">
                <a16:creationId xmlns:a16="http://schemas.microsoft.com/office/drawing/2014/main" id="{643F44D4-BDC2-7AE8-DAF7-0C3841423FA6}"/>
              </a:ext>
            </a:extLst>
          </p:cNvPr>
          <p:cNvPicPr preferRelativeResize="0"/>
          <p:nvPr/>
        </p:nvPicPr>
        <p:blipFill rotWithShape="1">
          <a:blip r:embed="rId6">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5523C4DA-F3CD-EC7D-6795-8B41395A3607}"/>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6258A025-93C3-5FF1-8986-27ACA8A0964F}"/>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F40B24CD-8101-CAF5-75B6-FD754712E0B2}"/>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43223642-747C-8EBF-D9A9-C53C64EA42DC}"/>
                  </a:ext>
                </a:extLst>
              </p:cNvPr>
              <p:cNvPicPr preferRelativeResize="0"/>
              <p:nvPr/>
            </p:nvPicPr>
            <p:blipFill rotWithShape="1">
              <a:blip r:embed="rId7">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802CBBA3-46C1-AAA6-809B-2095B10E4F37}"/>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g36f85b4a08f_0_42"/>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169" name="Google Shape;169;g36f85b4a08f_0_42"/>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9</a:t>
            </a:fld>
            <a:endParaRPr/>
          </a:p>
        </p:txBody>
      </p:sp>
      <p:sp>
        <p:nvSpPr>
          <p:cNvPr id="170" name="Google Shape;170;g36f85b4a08f_0_42"/>
          <p:cNvSpPr txBox="1"/>
          <p:nvPr/>
        </p:nvSpPr>
        <p:spPr>
          <a:xfrm>
            <a:off x="471620" y="911543"/>
            <a:ext cx="7463340" cy="623207"/>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i="0" u="none" strike="noStrike" cap="none" dirty="0">
                <a:solidFill>
                  <a:srgbClr val="000000"/>
                </a:solidFill>
                <a:latin typeface="Times New Roman"/>
                <a:ea typeface="Times New Roman"/>
                <a:cs typeface="Times New Roman"/>
                <a:sym typeface="Times New Roman"/>
              </a:rPr>
              <a:t>Capítulo II: Desarrollo de la </a:t>
            </a:r>
            <a:r>
              <a:rPr lang="es-PE" sz="3000" b="1" dirty="0">
                <a:latin typeface="Times New Roman"/>
                <a:ea typeface="Times New Roman"/>
                <a:cs typeface="Times New Roman"/>
                <a:sym typeface="Times New Roman"/>
              </a:rPr>
              <a:t>solución T.</a:t>
            </a:r>
            <a:r>
              <a:rPr lang="es-PE" sz="3000" b="1" i="0" u="none" strike="noStrike" cap="none" dirty="0">
                <a:solidFill>
                  <a:srgbClr val="000000"/>
                </a:solidFill>
                <a:latin typeface="Times New Roman"/>
                <a:ea typeface="Times New Roman"/>
                <a:cs typeface="Times New Roman"/>
                <a:sym typeface="Times New Roman"/>
              </a:rPr>
              <a:t> </a:t>
            </a:r>
            <a:endParaRPr sz="3000" b="0" i="0" u="none" strike="noStrike" cap="none" dirty="0">
              <a:solidFill>
                <a:srgbClr val="000000"/>
              </a:solidFill>
              <a:latin typeface="Times New Roman"/>
              <a:ea typeface="Times New Roman"/>
              <a:cs typeface="Times New Roman"/>
              <a:sym typeface="Times New Roman"/>
            </a:endParaRPr>
          </a:p>
        </p:txBody>
      </p:sp>
      <p:sp>
        <p:nvSpPr>
          <p:cNvPr id="176" name="Google Shape;176;g36f85b4a08f_0_42"/>
          <p:cNvSpPr txBox="1"/>
          <p:nvPr/>
        </p:nvSpPr>
        <p:spPr>
          <a:xfrm>
            <a:off x="234825" y="1651219"/>
            <a:ext cx="55179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PE" sz="1700" b="1" dirty="0"/>
              <a:t>2. Procesamiento de datos</a:t>
            </a:r>
            <a:endParaRPr sz="1700" b="1" dirty="0"/>
          </a:p>
          <a:p>
            <a:pPr marL="0" lvl="0" indent="0" algn="l" rtl="0">
              <a:spcBef>
                <a:spcPts val="0"/>
              </a:spcBef>
              <a:spcAft>
                <a:spcPts val="0"/>
              </a:spcAft>
              <a:buNone/>
            </a:pPr>
            <a:endParaRPr sz="1700" b="1" dirty="0"/>
          </a:p>
        </p:txBody>
      </p:sp>
      <p:pic>
        <p:nvPicPr>
          <p:cNvPr id="177" name="Google Shape;177;g36f85b4a08f_0_42"/>
          <p:cNvPicPr preferRelativeResize="0"/>
          <p:nvPr/>
        </p:nvPicPr>
        <p:blipFill>
          <a:blip r:embed="rId3">
            <a:alphaModFix/>
          </a:blip>
          <a:stretch>
            <a:fillRect/>
          </a:stretch>
        </p:blipFill>
        <p:spPr>
          <a:xfrm>
            <a:off x="1124327" y="2245460"/>
            <a:ext cx="5314950" cy="1485900"/>
          </a:xfrm>
          <a:prstGeom prst="rect">
            <a:avLst/>
          </a:prstGeom>
          <a:noFill/>
          <a:ln>
            <a:noFill/>
          </a:ln>
        </p:spPr>
      </p:pic>
      <p:sp>
        <p:nvSpPr>
          <p:cNvPr id="178" name="Google Shape;178;g36f85b4a08f_0_42"/>
          <p:cNvSpPr txBox="1"/>
          <p:nvPr/>
        </p:nvSpPr>
        <p:spPr>
          <a:xfrm>
            <a:off x="234825" y="4041500"/>
            <a:ext cx="71607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PE" sz="1800" b="1">
                <a:solidFill>
                  <a:schemeClr val="dk1"/>
                </a:solidFill>
                <a:latin typeface="Times New Roman"/>
                <a:ea typeface="Times New Roman"/>
                <a:cs typeface="Times New Roman"/>
                <a:sym typeface="Times New Roman"/>
              </a:rPr>
              <a:t>Pandas (Biblioteca de Python)</a:t>
            </a:r>
            <a:r>
              <a:rPr lang="es-PE" sz="1800">
                <a:solidFill>
                  <a:schemeClr val="dk1"/>
                </a:solidFill>
                <a:latin typeface="Times New Roman"/>
                <a:ea typeface="Times New Roman"/>
                <a:cs typeface="Times New Roman"/>
                <a:sym typeface="Times New Roman"/>
              </a:rPr>
              <a:t> Una vez que los datos estaban limpios, la biblioteca Pandas se usó dentro del código para la manipulación y el procesamiento más detallado. </a:t>
            </a: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s-PE" sz="1800">
                <a:solidFill>
                  <a:schemeClr val="dk1"/>
                </a:solidFill>
                <a:latin typeface="Times New Roman"/>
                <a:ea typeface="Times New Roman"/>
                <a:cs typeface="Times New Roman"/>
                <a:sym typeface="Times New Roman"/>
              </a:rPr>
              <a:t>Esto incluye filtrar los datos por cada provincia, convertir las columnas de fecha y hora a formatos numéricos, y preparar la matriz de datos para ser analizada por el algoritmo DBSCAN</a:t>
            </a:r>
            <a:endParaRPr sz="2100">
              <a:latin typeface="Times New Roman"/>
              <a:ea typeface="Times New Roman"/>
              <a:cs typeface="Times New Roman"/>
              <a:sym typeface="Times New Roman"/>
            </a:endParaRPr>
          </a:p>
        </p:txBody>
      </p:sp>
      <p:pic>
        <p:nvPicPr>
          <p:cNvPr id="179" name="Google Shape;179;g36f85b4a08f_0_42"/>
          <p:cNvPicPr preferRelativeResize="0"/>
          <p:nvPr/>
        </p:nvPicPr>
        <p:blipFill>
          <a:blip r:embed="rId4">
            <a:alphaModFix/>
          </a:blip>
          <a:stretch>
            <a:fillRect/>
          </a:stretch>
        </p:blipFill>
        <p:spPr>
          <a:xfrm>
            <a:off x="7496925" y="2162043"/>
            <a:ext cx="4694950" cy="4369811"/>
          </a:xfrm>
          <a:prstGeom prst="rect">
            <a:avLst/>
          </a:prstGeom>
          <a:noFill/>
          <a:ln>
            <a:noFill/>
          </a:ln>
        </p:spPr>
      </p:pic>
      <p:pic>
        <p:nvPicPr>
          <p:cNvPr id="2" name="Google Shape;46;p1">
            <a:extLst>
              <a:ext uri="{FF2B5EF4-FFF2-40B4-BE49-F238E27FC236}">
                <a16:creationId xmlns:a16="http://schemas.microsoft.com/office/drawing/2014/main" id="{0B254EE9-546B-83E0-91D0-585122AB2724}"/>
              </a:ext>
            </a:extLst>
          </p:cNvPr>
          <p:cNvPicPr preferRelativeResize="0"/>
          <p:nvPr/>
        </p:nvPicPr>
        <p:blipFill rotWithShape="1">
          <a:blip r:embed="rId5">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6A13EE0F-404D-FDF5-7FF1-B74A8F143513}"/>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148D3D7C-C16F-CEF2-3759-AFBDE9642F06}"/>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94D8E8FB-CC02-8FB1-1CE4-EC18EECAD65A}"/>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A85D9426-3C8D-838B-D36B-4C0D77D90ADE}"/>
                  </a:ext>
                </a:extLst>
              </p:cNvPr>
              <p:cNvPicPr preferRelativeResize="0"/>
              <p:nvPr/>
            </p:nvPicPr>
            <p:blipFill rotWithShape="1">
              <a:blip r:embed="rId6">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27DF457F-5023-E55C-536F-4C6CFBF0FFAF}"/>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g36f85b4a08f_0_66"/>
          <p:cNvPicPr preferRelativeResize="0"/>
          <p:nvPr/>
        </p:nvPicPr>
        <p:blipFill>
          <a:blip r:embed="rId3">
            <a:alphaModFix/>
          </a:blip>
          <a:stretch>
            <a:fillRect/>
          </a:stretch>
        </p:blipFill>
        <p:spPr>
          <a:xfrm>
            <a:off x="4302387" y="2265277"/>
            <a:ext cx="3586975" cy="3560872"/>
          </a:xfrm>
          <a:prstGeom prst="rect">
            <a:avLst/>
          </a:prstGeom>
          <a:noFill/>
          <a:ln>
            <a:noFill/>
          </a:ln>
        </p:spPr>
      </p:pic>
      <p:sp>
        <p:nvSpPr>
          <p:cNvPr id="186" name="Google Shape;186;g36f85b4a08f_0_66"/>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187" name="Google Shape;187;g36f85b4a08f_0_66"/>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10</a:t>
            </a:fld>
            <a:endParaRPr/>
          </a:p>
        </p:txBody>
      </p:sp>
      <p:sp>
        <p:nvSpPr>
          <p:cNvPr id="188" name="Google Shape;188;g36f85b4a08f_0_66"/>
          <p:cNvSpPr txBox="1"/>
          <p:nvPr/>
        </p:nvSpPr>
        <p:spPr>
          <a:xfrm>
            <a:off x="457690" y="878820"/>
            <a:ext cx="7284202" cy="623207"/>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i="0" u="none" strike="noStrike" cap="none" dirty="0">
                <a:solidFill>
                  <a:srgbClr val="000000"/>
                </a:solidFill>
                <a:latin typeface="Times New Roman"/>
                <a:ea typeface="Times New Roman"/>
                <a:cs typeface="Times New Roman"/>
                <a:sym typeface="Times New Roman"/>
              </a:rPr>
              <a:t>Capítulo II: Desarrollo de la </a:t>
            </a:r>
            <a:r>
              <a:rPr lang="es-PE" sz="3000" b="1" dirty="0">
                <a:latin typeface="Times New Roman"/>
                <a:ea typeface="Times New Roman"/>
                <a:cs typeface="Times New Roman"/>
                <a:sym typeface="Times New Roman"/>
              </a:rPr>
              <a:t>solución T.</a:t>
            </a:r>
            <a:r>
              <a:rPr lang="es-PE" sz="3000" b="1" i="0" u="none" strike="noStrike" cap="none" dirty="0">
                <a:solidFill>
                  <a:srgbClr val="000000"/>
                </a:solidFill>
                <a:latin typeface="Times New Roman"/>
                <a:ea typeface="Times New Roman"/>
                <a:cs typeface="Times New Roman"/>
                <a:sym typeface="Times New Roman"/>
              </a:rPr>
              <a:t> </a:t>
            </a:r>
            <a:endParaRPr sz="3000" b="0" i="0" u="none" strike="noStrike" cap="none" dirty="0">
              <a:solidFill>
                <a:srgbClr val="000000"/>
              </a:solidFill>
              <a:latin typeface="Times New Roman"/>
              <a:ea typeface="Times New Roman"/>
              <a:cs typeface="Times New Roman"/>
              <a:sym typeface="Times New Roman"/>
            </a:endParaRPr>
          </a:p>
        </p:txBody>
      </p:sp>
      <p:sp>
        <p:nvSpPr>
          <p:cNvPr id="194" name="Google Shape;194;g36f85b4a08f_0_66"/>
          <p:cNvSpPr txBox="1"/>
          <p:nvPr/>
        </p:nvSpPr>
        <p:spPr>
          <a:xfrm>
            <a:off x="302026" y="1720446"/>
            <a:ext cx="6820134" cy="72324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PE" sz="1700" b="1" dirty="0"/>
              <a:t>2.</a:t>
            </a:r>
            <a:r>
              <a:rPr lang="es-PE" sz="1800" b="1" dirty="0">
                <a:solidFill>
                  <a:schemeClr val="dk1"/>
                </a:solidFill>
                <a:latin typeface="Times New Roman"/>
                <a:ea typeface="Times New Roman"/>
                <a:cs typeface="Times New Roman"/>
                <a:sym typeface="Times New Roman"/>
              </a:rPr>
              <a:t> Matriz de datos para ser analizada por el algoritmo DBSCAN</a:t>
            </a:r>
            <a:endParaRPr sz="1700" b="1" dirty="0"/>
          </a:p>
          <a:p>
            <a:pPr marL="0" lvl="0" indent="0" algn="l" rtl="0">
              <a:spcBef>
                <a:spcPts val="0"/>
              </a:spcBef>
              <a:spcAft>
                <a:spcPts val="0"/>
              </a:spcAft>
              <a:buNone/>
            </a:pPr>
            <a:endParaRPr sz="1700" b="1" dirty="0"/>
          </a:p>
        </p:txBody>
      </p:sp>
      <p:pic>
        <p:nvPicPr>
          <p:cNvPr id="195" name="Google Shape;195;g36f85b4a08f_0_66"/>
          <p:cNvPicPr preferRelativeResize="0"/>
          <p:nvPr/>
        </p:nvPicPr>
        <p:blipFill>
          <a:blip r:embed="rId4">
            <a:alphaModFix/>
          </a:blip>
          <a:stretch>
            <a:fillRect/>
          </a:stretch>
        </p:blipFill>
        <p:spPr>
          <a:xfrm>
            <a:off x="84672" y="2562072"/>
            <a:ext cx="5067300" cy="2924175"/>
          </a:xfrm>
          <a:prstGeom prst="rect">
            <a:avLst/>
          </a:prstGeom>
          <a:noFill/>
          <a:ln>
            <a:noFill/>
          </a:ln>
        </p:spPr>
      </p:pic>
      <p:pic>
        <p:nvPicPr>
          <p:cNvPr id="196" name="Google Shape;196;g36f85b4a08f_0_66"/>
          <p:cNvPicPr preferRelativeResize="0"/>
          <p:nvPr/>
        </p:nvPicPr>
        <p:blipFill>
          <a:blip r:embed="rId5">
            <a:alphaModFix/>
          </a:blip>
          <a:stretch>
            <a:fillRect/>
          </a:stretch>
        </p:blipFill>
        <p:spPr>
          <a:xfrm>
            <a:off x="7533296" y="2443691"/>
            <a:ext cx="4658579" cy="3251675"/>
          </a:xfrm>
          <a:prstGeom prst="rect">
            <a:avLst/>
          </a:prstGeom>
          <a:noFill/>
          <a:ln>
            <a:noFill/>
          </a:ln>
        </p:spPr>
      </p:pic>
      <p:pic>
        <p:nvPicPr>
          <p:cNvPr id="2" name="Google Shape;46;p1">
            <a:extLst>
              <a:ext uri="{FF2B5EF4-FFF2-40B4-BE49-F238E27FC236}">
                <a16:creationId xmlns:a16="http://schemas.microsoft.com/office/drawing/2014/main" id="{2403CA8A-03A1-F7E0-85CD-05D9CD766B6A}"/>
              </a:ext>
            </a:extLst>
          </p:cNvPr>
          <p:cNvPicPr preferRelativeResize="0"/>
          <p:nvPr/>
        </p:nvPicPr>
        <p:blipFill rotWithShape="1">
          <a:blip r:embed="rId6">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C9C817D4-582C-7584-ED63-0C33DB00A5A0}"/>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BF09825D-BDB3-3372-6515-93FC37EEAAF6}"/>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EF9BB594-9AF1-F2A3-D39B-F1F544DD8986}"/>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E8F33913-729C-9A1A-7EF4-40BBA0A7F21A}"/>
                  </a:ext>
                </a:extLst>
              </p:cNvPr>
              <p:cNvPicPr preferRelativeResize="0"/>
              <p:nvPr/>
            </p:nvPicPr>
            <p:blipFill rotWithShape="1">
              <a:blip r:embed="rId7">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D3CA7256-C519-8BDD-73A7-F8EB7B25A9CE}"/>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g36f85b4a08f_0_84"/>
          <p:cNvPicPr preferRelativeResize="0"/>
          <p:nvPr/>
        </p:nvPicPr>
        <p:blipFill>
          <a:blip r:embed="rId3">
            <a:alphaModFix/>
          </a:blip>
          <a:stretch>
            <a:fillRect/>
          </a:stretch>
        </p:blipFill>
        <p:spPr>
          <a:xfrm>
            <a:off x="3924525" y="1697862"/>
            <a:ext cx="8267350" cy="1083550"/>
          </a:xfrm>
          <a:prstGeom prst="rect">
            <a:avLst/>
          </a:prstGeom>
          <a:noFill/>
          <a:ln>
            <a:noFill/>
          </a:ln>
        </p:spPr>
      </p:pic>
      <p:sp>
        <p:nvSpPr>
          <p:cNvPr id="203" name="Google Shape;203;g36f85b4a08f_0_84"/>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204" name="Google Shape;204;g36f85b4a08f_0_84"/>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11</a:t>
            </a:fld>
            <a:endParaRPr/>
          </a:p>
        </p:txBody>
      </p:sp>
      <p:sp>
        <p:nvSpPr>
          <p:cNvPr id="205" name="Google Shape;205;g36f85b4a08f_0_84"/>
          <p:cNvSpPr txBox="1"/>
          <p:nvPr/>
        </p:nvSpPr>
        <p:spPr>
          <a:xfrm>
            <a:off x="471175" y="743653"/>
            <a:ext cx="11720700" cy="623207"/>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i="0" u="none" strike="noStrike" cap="none" dirty="0">
                <a:solidFill>
                  <a:srgbClr val="000000"/>
                </a:solidFill>
                <a:latin typeface="Times New Roman"/>
                <a:ea typeface="Times New Roman"/>
                <a:cs typeface="Times New Roman"/>
                <a:sym typeface="Times New Roman"/>
              </a:rPr>
              <a:t>Capítulo II: Desarrollo de la </a:t>
            </a:r>
            <a:r>
              <a:rPr lang="es-PE" sz="3000" b="1" dirty="0">
                <a:latin typeface="Times New Roman"/>
                <a:ea typeface="Times New Roman"/>
                <a:cs typeface="Times New Roman"/>
                <a:sym typeface="Times New Roman"/>
              </a:rPr>
              <a:t>solución T.</a:t>
            </a:r>
            <a:r>
              <a:rPr lang="es-PE" sz="3000" b="1" i="0" u="none" strike="noStrike" cap="none" dirty="0">
                <a:solidFill>
                  <a:srgbClr val="000000"/>
                </a:solidFill>
                <a:latin typeface="Times New Roman"/>
                <a:ea typeface="Times New Roman"/>
                <a:cs typeface="Times New Roman"/>
                <a:sym typeface="Times New Roman"/>
              </a:rPr>
              <a:t> </a:t>
            </a:r>
            <a:endParaRPr sz="3000" b="0" i="0" u="none" strike="noStrike" cap="none" dirty="0">
              <a:solidFill>
                <a:srgbClr val="000000"/>
              </a:solidFill>
              <a:latin typeface="Times New Roman"/>
              <a:ea typeface="Times New Roman"/>
              <a:cs typeface="Times New Roman"/>
              <a:sym typeface="Times New Roman"/>
            </a:endParaRPr>
          </a:p>
        </p:txBody>
      </p:sp>
      <p:sp>
        <p:nvSpPr>
          <p:cNvPr id="211" name="Google Shape;211;g36f85b4a08f_0_84"/>
          <p:cNvSpPr txBox="1"/>
          <p:nvPr/>
        </p:nvSpPr>
        <p:spPr>
          <a:xfrm>
            <a:off x="493208" y="1589617"/>
            <a:ext cx="3193254" cy="72324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PE" sz="1700" b="1" dirty="0"/>
              <a:t>2.</a:t>
            </a:r>
            <a:r>
              <a:rPr lang="es-PE" sz="1800" b="1" dirty="0">
                <a:solidFill>
                  <a:schemeClr val="dk1"/>
                </a:solidFill>
                <a:latin typeface="Times New Roman"/>
                <a:ea typeface="Times New Roman"/>
                <a:cs typeface="Times New Roman"/>
                <a:sym typeface="Times New Roman"/>
              </a:rPr>
              <a:t> Preparación de una interfaz </a:t>
            </a:r>
            <a:endParaRPr sz="1700" b="1" dirty="0"/>
          </a:p>
          <a:p>
            <a:pPr marL="0" lvl="0" indent="0" algn="l" rtl="0">
              <a:spcBef>
                <a:spcPts val="0"/>
              </a:spcBef>
              <a:spcAft>
                <a:spcPts val="0"/>
              </a:spcAft>
              <a:buNone/>
            </a:pPr>
            <a:endParaRPr sz="1700" b="1" dirty="0"/>
          </a:p>
        </p:txBody>
      </p:sp>
      <p:pic>
        <p:nvPicPr>
          <p:cNvPr id="212" name="Google Shape;212;g36f85b4a08f_0_84"/>
          <p:cNvPicPr preferRelativeResize="0"/>
          <p:nvPr/>
        </p:nvPicPr>
        <p:blipFill>
          <a:blip r:embed="rId4">
            <a:alphaModFix/>
          </a:blip>
          <a:stretch>
            <a:fillRect/>
          </a:stretch>
        </p:blipFill>
        <p:spPr>
          <a:xfrm>
            <a:off x="255145" y="2546966"/>
            <a:ext cx="5227119" cy="3808330"/>
          </a:xfrm>
          <a:prstGeom prst="rect">
            <a:avLst/>
          </a:prstGeom>
          <a:noFill/>
          <a:ln>
            <a:noFill/>
          </a:ln>
        </p:spPr>
      </p:pic>
      <p:pic>
        <p:nvPicPr>
          <p:cNvPr id="213" name="Google Shape;213;g36f85b4a08f_0_84"/>
          <p:cNvPicPr preferRelativeResize="0"/>
          <p:nvPr/>
        </p:nvPicPr>
        <p:blipFill>
          <a:blip r:embed="rId5">
            <a:alphaModFix/>
          </a:blip>
          <a:stretch>
            <a:fillRect/>
          </a:stretch>
        </p:blipFill>
        <p:spPr>
          <a:xfrm>
            <a:off x="5444638" y="2546966"/>
            <a:ext cx="6583672" cy="3808330"/>
          </a:xfrm>
          <a:prstGeom prst="rect">
            <a:avLst/>
          </a:prstGeom>
          <a:noFill/>
          <a:ln>
            <a:noFill/>
          </a:ln>
        </p:spPr>
      </p:pic>
      <p:pic>
        <p:nvPicPr>
          <p:cNvPr id="2" name="Google Shape;46;p1">
            <a:extLst>
              <a:ext uri="{FF2B5EF4-FFF2-40B4-BE49-F238E27FC236}">
                <a16:creationId xmlns:a16="http://schemas.microsoft.com/office/drawing/2014/main" id="{CD8A2DA3-0A12-9AF8-D9DC-6747A11CAB6F}"/>
              </a:ext>
            </a:extLst>
          </p:cNvPr>
          <p:cNvPicPr preferRelativeResize="0"/>
          <p:nvPr/>
        </p:nvPicPr>
        <p:blipFill rotWithShape="1">
          <a:blip r:embed="rId6">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60537762-551A-9DC8-E62E-C483FD92ECAF}"/>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A473A341-CBB3-A3F9-A4A3-9CA902614DE5}"/>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9AB2DEAE-4137-F990-E0DB-A830DB2C9951}"/>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8D3B27F5-BC90-2790-09B1-B50595EC00C9}"/>
                  </a:ext>
                </a:extLst>
              </p:cNvPr>
              <p:cNvPicPr preferRelativeResize="0"/>
              <p:nvPr/>
            </p:nvPicPr>
            <p:blipFill rotWithShape="1">
              <a:blip r:embed="rId7">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174C73AA-FF73-FE9A-E8B2-031B84CAE32D}"/>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9" name="Google Shape;219;p4"/>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220" name="Google Shape;220;p4"/>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12</a:t>
            </a:fld>
            <a:endParaRPr/>
          </a:p>
        </p:txBody>
      </p:sp>
      <p:sp>
        <p:nvSpPr>
          <p:cNvPr id="221" name="Google Shape;221;p4"/>
          <p:cNvSpPr txBox="1"/>
          <p:nvPr/>
        </p:nvSpPr>
        <p:spPr>
          <a:xfrm>
            <a:off x="1649900" y="713161"/>
            <a:ext cx="11720700" cy="623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i="0" u="none" strike="noStrike" cap="none">
                <a:solidFill>
                  <a:srgbClr val="000000"/>
                </a:solidFill>
                <a:latin typeface="Times New Roman"/>
                <a:ea typeface="Times New Roman"/>
                <a:cs typeface="Times New Roman"/>
                <a:sym typeface="Times New Roman"/>
              </a:rPr>
              <a:t>Capítulo III: Resultado  </a:t>
            </a:r>
            <a:endParaRPr sz="3000" b="1" i="0" u="none" strike="noStrike" cap="none">
              <a:solidFill>
                <a:srgbClr val="000000"/>
              </a:solidFill>
              <a:latin typeface="Times New Roman"/>
              <a:ea typeface="Times New Roman"/>
              <a:cs typeface="Times New Roman"/>
              <a:sym typeface="Times New Roman"/>
            </a:endParaRPr>
          </a:p>
        </p:txBody>
      </p:sp>
      <p:sp>
        <p:nvSpPr>
          <p:cNvPr id="227" name="Google Shape;227;p4"/>
          <p:cNvSpPr txBox="1"/>
          <p:nvPr/>
        </p:nvSpPr>
        <p:spPr>
          <a:xfrm>
            <a:off x="363442" y="1274997"/>
            <a:ext cx="11720700" cy="554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2300" b="1">
                <a:latin typeface="Times New Roman"/>
                <a:ea typeface="Times New Roman"/>
                <a:cs typeface="Times New Roman"/>
                <a:sym typeface="Times New Roman"/>
              </a:rPr>
              <a:t>3.1 Resultados e impacto</a:t>
            </a:r>
            <a:r>
              <a:rPr lang="es-PE" sz="3000" b="1" i="0" u="none" strike="noStrike" cap="none">
                <a:solidFill>
                  <a:srgbClr val="000000"/>
                </a:solidFill>
                <a:latin typeface="Times New Roman"/>
                <a:ea typeface="Times New Roman"/>
                <a:cs typeface="Times New Roman"/>
                <a:sym typeface="Times New Roman"/>
              </a:rPr>
              <a:t> </a:t>
            </a:r>
            <a:endParaRPr sz="3000" b="1" i="0" u="none" strike="noStrike" cap="none">
              <a:solidFill>
                <a:srgbClr val="000000"/>
              </a:solidFill>
              <a:latin typeface="Times New Roman"/>
              <a:ea typeface="Times New Roman"/>
              <a:cs typeface="Times New Roman"/>
              <a:sym typeface="Times New Roman"/>
            </a:endParaRPr>
          </a:p>
        </p:txBody>
      </p:sp>
      <p:sp>
        <p:nvSpPr>
          <p:cNvPr id="228" name="Google Shape;228;p4"/>
          <p:cNvSpPr txBox="1"/>
          <p:nvPr/>
        </p:nvSpPr>
        <p:spPr>
          <a:xfrm>
            <a:off x="363442" y="1630892"/>
            <a:ext cx="11046237" cy="5601503"/>
          </a:xfrm>
          <a:prstGeom prst="rect">
            <a:avLst/>
          </a:prstGeom>
          <a:noFill/>
          <a:ln>
            <a:noFill/>
          </a:ln>
        </p:spPr>
        <p:txBody>
          <a:bodyPr spcFirstLastPara="1" wrap="square" lIns="91425" tIns="91425" rIns="91425" bIns="91425" anchor="t" anchorCtr="0">
            <a:spAutoFit/>
          </a:bodyPr>
          <a:lstStyle/>
          <a:p>
            <a:pPr marL="685800" lvl="0" indent="0" algn="l" rtl="0">
              <a:lnSpc>
                <a:spcPct val="200000"/>
              </a:lnSpc>
              <a:spcBef>
                <a:spcPts val="0"/>
              </a:spcBef>
              <a:spcAft>
                <a:spcPts val="0"/>
              </a:spcAft>
              <a:buClr>
                <a:schemeClr val="dk1"/>
              </a:buClr>
              <a:buSzPts val="1100"/>
              <a:buFont typeface="Arial"/>
              <a:buNone/>
            </a:pPr>
            <a:r>
              <a:rPr lang="es-PE" sz="1600" dirty="0">
                <a:solidFill>
                  <a:schemeClr val="dk1"/>
                </a:solidFill>
                <a:latin typeface="Times New Roman"/>
                <a:ea typeface="Times New Roman"/>
                <a:cs typeface="Times New Roman"/>
                <a:sym typeface="Times New Roman"/>
              </a:rPr>
              <a:t>El análisis global de los datos revela patrones consistentes y significativos en toda la región. El hallazgo más notable es la identificación de dos "puntos calientes" o periodos de muy alta densidad de infracciones:</a:t>
            </a:r>
            <a:endParaRPr sz="1600" dirty="0">
              <a:solidFill>
                <a:schemeClr val="dk1"/>
              </a:solidFill>
              <a:latin typeface="Times New Roman"/>
              <a:ea typeface="Times New Roman"/>
              <a:cs typeface="Times New Roman"/>
              <a:sym typeface="Times New Roman"/>
            </a:endParaRPr>
          </a:p>
          <a:p>
            <a:pPr marL="914400" lvl="0" indent="-311150" algn="l" rtl="0">
              <a:lnSpc>
                <a:spcPct val="200000"/>
              </a:lnSpc>
              <a:spcBef>
                <a:spcPts val="0"/>
              </a:spcBef>
              <a:spcAft>
                <a:spcPts val="0"/>
              </a:spcAft>
              <a:buClr>
                <a:schemeClr val="dk1"/>
              </a:buClr>
              <a:buSzPts val="1300"/>
              <a:buFont typeface="Times New Roman"/>
              <a:buChar char="-"/>
            </a:pPr>
            <a:r>
              <a:rPr lang="es-PE" sz="1600" dirty="0">
                <a:solidFill>
                  <a:schemeClr val="dk1"/>
                </a:solidFill>
                <a:latin typeface="Times New Roman"/>
                <a:ea typeface="Times New Roman"/>
                <a:cs typeface="Times New Roman"/>
                <a:sym typeface="Times New Roman"/>
              </a:rPr>
              <a:t>Pico de Medianoche: Se confirma un clúster de muy alta densidad recurrente a las 0:00 horas. Este patrón es el más consistente en la mayoría de las provincias analizadas, incluyendo San Martín, Moyobamba, Rioja, Mariscal Cáceres y Tocache, señalando un periodo de riesgo generalizado.</a:t>
            </a:r>
            <a:endParaRPr sz="1600" dirty="0">
              <a:solidFill>
                <a:schemeClr val="dk1"/>
              </a:solidFill>
              <a:latin typeface="Times New Roman"/>
              <a:ea typeface="Times New Roman"/>
              <a:cs typeface="Times New Roman"/>
              <a:sym typeface="Times New Roman"/>
            </a:endParaRPr>
          </a:p>
          <a:p>
            <a:pPr marL="914400" lvl="0" indent="-311150" algn="l" rtl="0">
              <a:lnSpc>
                <a:spcPct val="200000"/>
              </a:lnSpc>
              <a:spcBef>
                <a:spcPts val="0"/>
              </a:spcBef>
              <a:spcAft>
                <a:spcPts val="0"/>
              </a:spcAft>
              <a:buClr>
                <a:schemeClr val="dk1"/>
              </a:buClr>
              <a:buSzPts val="1300"/>
              <a:buFont typeface="Times New Roman"/>
              <a:buChar char="-"/>
            </a:pPr>
            <a:r>
              <a:rPr lang="es-PE" sz="1600" dirty="0">
                <a:solidFill>
                  <a:schemeClr val="dk1"/>
                </a:solidFill>
                <a:latin typeface="Times New Roman"/>
                <a:ea typeface="Times New Roman"/>
                <a:cs typeface="Times New Roman"/>
                <a:sym typeface="Times New Roman"/>
              </a:rPr>
              <a:t>Bloque de Actividad Diurna: Se identifica un segundo bloque de alta concentración de infracciones durante el día, principalmente entre las 9:00 y las 17:00 horas. La duración e intensidad de este pico varía provincialmente, pero su presencia es una constante regional.</a:t>
            </a:r>
            <a:endParaRPr sz="1600" dirty="0">
              <a:solidFill>
                <a:schemeClr val="dk1"/>
              </a:solidFill>
              <a:latin typeface="Times New Roman"/>
              <a:ea typeface="Times New Roman"/>
              <a:cs typeface="Times New Roman"/>
              <a:sym typeface="Times New Roman"/>
            </a:endParaRPr>
          </a:p>
          <a:p>
            <a:pPr marL="685800" lvl="0" indent="0" algn="l" rtl="0">
              <a:lnSpc>
                <a:spcPct val="200000"/>
              </a:lnSpc>
              <a:spcBef>
                <a:spcPts val="0"/>
              </a:spcBef>
              <a:spcAft>
                <a:spcPts val="0"/>
              </a:spcAft>
              <a:buClr>
                <a:schemeClr val="dk1"/>
              </a:buClr>
              <a:buSzPts val="1100"/>
              <a:buFont typeface="Arial"/>
              <a:buNone/>
            </a:pPr>
            <a:r>
              <a:rPr lang="es-PE" sz="1600" dirty="0">
                <a:solidFill>
                  <a:schemeClr val="dk1"/>
                </a:solidFill>
                <a:latin typeface="Times New Roman"/>
                <a:ea typeface="Times New Roman"/>
                <a:cs typeface="Times New Roman"/>
                <a:sym typeface="Times New Roman"/>
              </a:rPr>
              <a:t>El algoritmo también demostró su eficacia al aislar las infracciones esporádicas como "ruido" estadístico, lo que valida la coherencia interna de los clústeres identificados como patrones de comportamiento reales y no como eventos aleatorios.</a:t>
            </a:r>
            <a:endParaRPr sz="16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3200" dirty="0">
              <a:solidFill>
                <a:schemeClr val="dk2"/>
              </a:solidFill>
            </a:endParaRPr>
          </a:p>
        </p:txBody>
      </p:sp>
      <p:pic>
        <p:nvPicPr>
          <p:cNvPr id="2" name="Google Shape;46;p1">
            <a:extLst>
              <a:ext uri="{FF2B5EF4-FFF2-40B4-BE49-F238E27FC236}">
                <a16:creationId xmlns:a16="http://schemas.microsoft.com/office/drawing/2014/main" id="{12104811-F0BF-A8FB-189F-677DB45F66E1}"/>
              </a:ext>
            </a:extLst>
          </p:cNvPr>
          <p:cNvPicPr preferRelativeResize="0"/>
          <p:nvPr/>
        </p:nvPicPr>
        <p:blipFill rotWithShape="1">
          <a:blip r:embed="rId3">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3F4D231F-CB63-A489-62C6-C5EA254854EC}"/>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FA2D4A82-A1F3-92DD-623B-84AB7A85C63D}"/>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4F43063B-A36A-CA1B-1B3C-78D1F75AEE8B}"/>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EC45ACFE-F08A-91AF-BB97-DDBBC636C2CD}"/>
                  </a:ext>
                </a:extLst>
              </p:cNvPr>
              <p:cNvPicPr preferRelativeResize="0"/>
              <p:nvPr/>
            </p:nvPicPr>
            <p:blipFill rotWithShape="1">
              <a:blip r:embed="rId4">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E7792815-DED3-3648-1162-A2F6234AA8F4}"/>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4" name="Google Shape;234;g344e6fef586_0_99"/>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235" name="Google Shape;235;g344e6fef586_0_99"/>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13</a:t>
            </a:fld>
            <a:endParaRPr/>
          </a:p>
        </p:txBody>
      </p:sp>
      <p:sp>
        <p:nvSpPr>
          <p:cNvPr id="242" name="Google Shape;242;g344e6fef586_0_99"/>
          <p:cNvSpPr txBox="1"/>
          <p:nvPr/>
        </p:nvSpPr>
        <p:spPr>
          <a:xfrm>
            <a:off x="307610" y="919117"/>
            <a:ext cx="11720700" cy="554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2300" b="1" dirty="0">
                <a:latin typeface="Times New Roman"/>
                <a:ea typeface="Times New Roman"/>
                <a:cs typeface="Times New Roman"/>
                <a:sym typeface="Times New Roman"/>
              </a:rPr>
              <a:t>3.1 Resultados e impacto</a:t>
            </a:r>
            <a:r>
              <a:rPr lang="es-PE" sz="3000" b="1" i="0" u="none" strike="noStrike" cap="none" dirty="0">
                <a:solidFill>
                  <a:srgbClr val="000000"/>
                </a:solidFill>
                <a:latin typeface="Times New Roman"/>
                <a:ea typeface="Times New Roman"/>
                <a:cs typeface="Times New Roman"/>
                <a:sym typeface="Times New Roman"/>
              </a:rPr>
              <a:t> </a:t>
            </a:r>
            <a:endParaRPr sz="3000" b="1" i="0" u="none" strike="noStrike" cap="none" dirty="0">
              <a:solidFill>
                <a:srgbClr val="000000"/>
              </a:solidFill>
              <a:latin typeface="Times New Roman"/>
              <a:ea typeface="Times New Roman"/>
              <a:cs typeface="Times New Roman"/>
              <a:sym typeface="Times New Roman"/>
            </a:endParaRPr>
          </a:p>
        </p:txBody>
      </p:sp>
      <p:sp>
        <p:nvSpPr>
          <p:cNvPr id="243" name="Google Shape;243;g344e6fef586_0_99"/>
          <p:cNvSpPr txBox="1"/>
          <p:nvPr/>
        </p:nvSpPr>
        <p:spPr>
          <a:xfrm>
            <a:off x="163690" y="1507295"/>
            <a:ext cx="11510149" cy="5601503"/>
          </a:xfrm>
          <a:prstGeom prst="rect">
            <a:avLst/>
          </a:prstGeom>
          <a:noFill/>
          <a:ln>
            <a:noFill/>
          </a:ln>
        </p:spPr>
        <p:txBody>
          <a:bodyPr spcFirstLastPara="1" wrap="square" lIns="91425" tIns="91425" rIns="91425" bIns="91425" anchor="t" anchorCtr="0">
            <a:spAutoFit/>
          </a:bodyPr>
          <a:lstStyle/>
          <a:p>
            <a:pPr marL="685800" lvl="0" indent="0" algn="l" rtl="0">
              <a:lnSpc>
                <a:spcPct val="200000"/>
              </a:lnSpc>
              <a:spcBef>
                <a:spcPts val="0"/>
              </a:spcBef>
              <a:spcAft>
                <a:spcPts val="0"/>
              </a:spcAft>
              <a:buClr>
                <a:schemeClr val="dk1"/>
              </a:buClr>
              <a:buSzPts val="1100"/>
              <a:buFont typeface="Arial"/>
              <a:buNone/>
            </a:pPr>
            <a:r>
              <a:rPr lang="es-PE" sz="1600" dirty="0">
                <a:solidFill>
                  <a:schemeClr val="dk1"/>
                </a:solidFill>
                <a:latin typeface="Times New Roman"/>
                <a:ea typeface="Times New Roman"/>
                <a:cs typeface="Times New Roman"/>
                <a:sym typeface="Times New Roman"/>
              </a:rPr>
              <a:t>Los patrones identificados tienen implicaciones directas para la seguridad y gestión vial en la región de San Martín:</a:t>
            </a:r>
            <a:endParaRPr sz="1600" dirty="0">
              <a:solidFill>
                <a:schemeClr val="dk1"/>
              </a:solidFill>
              <a:latin typeface="Times New Roman"/>
              <a:ea typeface="Times New Roman"/>
              <a:cs typeface="Times New Roman"/>
              <a:sym typeface="Times New Roman"/>
            </a:endParaRPr>
          </a:p>
          <a:p>
            <a:pPr marL="914400" lvl="0" indent="-311150" algn="l" rtl="0">
              <a:lnSpc>
                <a:spcPct val="200000"/>
              </a:lnSpc>
              <a:spcBef>
                <a:spcPts val="0"/>
              </a:spcBef>
              <a:spcAft>
                <a:spcPts val="0"/>
              </a:spcAft>
              <a:buClr>
                <a:schemeClr val="dk1"/>
              </a:buClr>
              <a:buSzPts val="1300"/>
              <a:buFont typeface="Times New Roman"/>
              <a:buChar char="-"/>
            </a:pPr>
            <a:r>
              <a:rPr lang="es-PE" sz="1600" dirty="0">
                <a:solidFill>
                  <a:schemeClr val="dk1"/>
                </a:solidFill>
                <a:latin typeface="Times New Roman"/>
                <a:ea typeface="Times New Roman"/>
                <a:cs typeface="Times New Roman"/>
                <a:sym typeface="Times New Roman"/>
              </a:rPr>
              <a:t>Impacto del Pico de Medianoche: La alta recurrencia de infracciones a las 0:00 horas sugiere un período de alto riesgo que puede estar asociado a factores como la vida nocturna, la conducción bajo los efectos del alcohol o una menor presencia de autoridades, lo que genera una ventana de tiempo crítica para la seguridad vial.</a:t>
            </a:r>
            <a:endParaRPr sz="1600" dirty="0">
              <a:solidFill>
                <a:schemeClr val="dk1"/>
              </a:solidFill>
              <a:latin typeface="Times New Roman"/>
              <a:ea typeface="Times New Roman"/>
              <a:cs typeface="Times New Roman"/>
              <a:sym typeface="Times New Roman"/>
            </a:endParaRPr>
          </a:p>
          <a:p>
            <a:pPr marL="914400" lvl="0" indent="-311150" algn="l" rtl="0">
              <a:lnSpc>
                <a:spcPct val="200000"/>
              </a:lnSpc>
              <a:spcBef>
                <a:spcPts val="0"/>
              </a:spcBef>
              <a:spcAft>
                <a:spcPts val="0"/>
              </a:spcAft>
              <a:buClr>
                <a:schemeClr val="dk1"/>
              </a:buClr>
              <a:buSzPts val="1300"/>
              <a:buFont typeface="Times New Roman"/>
              <a:buChar char="-"/>
            </a:pPr>
            <a:r>
              <a:rPr lang="es-PE" sz="1600" dirty="0">
                <a:solidFill>
                  <a:schemeClr val="dk1"/>
                </a:solidFill>
                <a:latin typeface="Times New Roman"/>
                <a:ea typeface="Times New Roman"/>
                <a:cs typeface="Times New Roman"/>
                <a:sym typeface="Times New Roman"/>
              </a:rPr>
              <a:t>Impacto del Pico Diurno: La concentración de infracciones durante el día coincide con las horas de mayor actividad comercial y laboral. El impacto se traduce en un riesgo elevado en momentos de alta congestión vehicular, afectando la fluidez del tránsito y la seguridad de los ciudadanos.</a:t>
            </a:r>
            <a:endParaRPr sz="1600" dirty="0">
              <a:solidFill>
                <a:schemeClr val="dk1"/>
              </a:solidFill>
              <a:latin typeface="Times New Roman"/>
              <a:ea typeface="Times New Roman"/>
              <a:cs typeface="Times New Roman"/>
              <a:sym typeface="Times New Roman"/>
            </a:endParaRPr>
          </a:p>
          <a:p>
            <a:pPr marL="914400" lvl="0" indent="-311150" algn="l" rtl="0">
              <a:lnSpc>
                <a:spcPct val="200000"/>
              </a:lnSpc>
              <a:spcBef>
                <a:spcPts val="0"/>
              </a:spcBef>
              <a:spcAft>
                <a:spcPts val="0"/>
              </a:spcAft>
              <a:buClr>
                <a:schemeClr val="dk1"/>
              </a:buClr>
              <a:buSzPts val="1300"/>
              <a:buFont typeface="Times New Roman"/>
              <a:buChar char="-"/>
            </a:pPr>
            <a:r>
              <a:rPr lang="es-PE" sz="1600" dirty="0">
                <a:solidFill>
                  <a:schemeClr val="dk1"/>
                </a:solidFill>
                <a:latin typeface="Times New Roman"/>
                <a:ea typeface="Times New Roman"/>
                <a:cs typeface="Times New Roman"/>
                <a:sym typeface="Times New Roman"/>
              </a:rPr>
              <a:t>Impacto de la Variabilidad Provincial: La existencia de patrones diferenciados entre provincias como Picota, Lamas y San Martín demuestra que una política de fiscalización "talla única" es ineficaz. El impacto de este hallazgo es la necesidad urgente de diseñar estrategias de control vial descentralizadas, basadas en la evidencia y adaptadas a la realidad de cada localidad.</a:t>
            </a:r>
            <a:endParaRPr sz="16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3200" dirty="0">
              <a:solidFill>
                <a:schemeClr val="dk2"/>
              </a:solidFill>
            </a:endParaRPr>
          </a:p>
        </p:txBody>
      </p:sp>
      <p:pic>
        <p:nvPicPr>
          <p:cNvPr id="2" name="Google Shape;46;p1">
            <a:extLst>
              <a:ext uri="{FF2B5EF4-FFF2-40B4-BE49-F238E27FC236}">
                <a16:creationId xmlns:a16="http://schemas.microsoft.com/office/drawing/2014/main" id="{A725C65A-8232-B280-A7CA-B42223AC2A02}"/>
              </a:ext>
            </a:extLst>
          </p:cNvPr>
          <p:cNvPicPr preferRelativeResize="0"/>
          <p:nvPr/>
        </p:nvPicPr>
        <p:blipFill rotWithShape="1">
          <a:blip r:embed="rId3">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704C06B2-4249-076B-401E-481A45A01CDF}"/>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22E83413-2843-C597-5DA8-A4956B7D37D8}"/>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C12849F1-0C2F-A219-CDAD-0FC651ABA9FA}"/>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48594F08-70C5-A3ED-6E19-76CF189E9300}"/>
                  </a:ext>
                </a:extLst>
              </p:cNvPr>
              <p:cNvPicPr preferRelativeResize="0"/>
              <p:nvPr/>
            </p:nvPicPr>
            <p:blipFill rotWithShape="1">
              <a:blip r:embed="rId4">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F1C977D6-6AE6-8F44-6CF4-5EC1A1706496}"/>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9" name="Google Shape;249;g344e6fef586_0_84"/>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250" name="Google Shape;250;g344e6fef586_0_84"/>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14</a:t>
            </a:fld>
            <a:endParaRPr/>
          </a:p>
        </p:txBody>
      </p:sp>
      <p:sp>
        <p:nvSpPr>
          <p:cNvPr id="257" name="Google Shape;257;g344e6fef586_0_84"/>
          <p:cNvSpPr txBox="1"/>
          <p:nvPr/>
        </p:nvSpPr>
        <p:spPr>
          <a:xfrm>
            <a:off x="471175" y="850302"/>
            <a:ext cx="11720700" cy="554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2300" b="1" dirty="0">
                <a:latin typeface="Times New Roman"/>
                <a:ea typeface="Times New Roman"/>
                <a:cs typeface="Times New Roman"/>
                <a:sym typeface="Times New Roman"/>
              </a:rPr>
              <a:t>3.2 Conclusiones y recomendaciones</a:t>
            </a:r>
            <a:r>
              <a:rPr lang="es-PE" sz="3000" b="1" i="0" u="none" strike="noStrike" cap="none" dirty="0">
                <a:solidFill>
                  <a:srgbClr val="000000"/>
                </a:solidFill>
                <a:latin typeface="Times New Roman"/>
                <a:ea typeface="Times New Roman"/>
                <a:cs typeface="Times New Roman"/>
                <a:sym typeface="Times New Roman"/>
              </a:rPr>
              <a:t> </a:t>
            </a:r>
            <a:endParaRPr sz="3000" b="1" i="0" u="none" strike="noStrike" cap="none" dirty="0">
              <a:solidFill>
                <a:srgbClr val="000000"/>
              </a:solidFill>
              <a:latin typeface="Times New Roman"/>
              <a:ea typeface="Times New Roman"/>
              <a:cs typeface="Times New Roman"/>
              <a:sym typeface="Times New Roman"/>
            </a:endParaRPr>
          </a:p>
        </p:txBody>
      </p:sp>
      <p:sp>
        <p:nvSpPr>
          <p:cNvPr id="258" name="Google Shape;258;g344e6fef586_0_84"/>
          <p:cNvSpPr txBox="1"/>
          <p:nvPr/>
        </p:nvSpPr>
        <p:spPr>
          <a:xfrm>
            <a:off x="1090325" y="2891100"/>
            <a:ext cx="83514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a:solidFill>
                <a:schemeClr val="dk2"/>
              </a:solidFill>
            </a:endParaRPr>
          </a:p>
        </p:txBody>
      </p:sp>
      <p:sp>
        <p:nvSpPr>
          <p:cNvPr id="259" name="Google Shape;259;g344e6fef586_0_84"/>
          <p:cNvSpPr txBox="1"/>
          <p:nvPr/>
        </p:nvSpPr>
        <p:spPr>
          <a:xfrm>
            <a:off x="879900" y="1457459"/>
            <a:ext cx="10150200" cy="498595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s-PE" sz="1600" dirty="0">
                <a:solidFill>
                  <a:schemeClr val="dk1"/>
                </a:solidFill>
                <a:latin typeface="Times New Roman"/>
                <a:ea typeface="Times New Roman"/>
                <a:cs typeface="Times New Roman"/>
                <a:sym typeface="Times New Roman"/>
              </a:rPr>
              <a:t>En base a los hallazgos del proyecto, se determinaron conclusiones significativas sobre los patrones de infracciones en la región San Martín. El análisis de resultados demuestra que, a nivel regional, existen dos "puntos calientes" o periodos de muy alta densidad de infracciones: un pico recurrente y muy marcado a las 0:00 horas, presente en la mayoría de provincias como San Martín, Moyobamba, Rioja y Tocache , y un segundo bloque de alta actividad concentrado durante el día, principalmente entre las 9:00 y las 17:00 horas. Sin embargo, al examinar los resultados específicos y los anexos de cada provincia, se concluye que los patrones no son homogéneos. Por ejemplo, mientras San Martín y Moyobamba siguen el patrón bimodal general , provincias como Picota muestran un comportamiento distinto, con un clúster de infracciones que se extiende de 0:00 a 6:00 horas y un pico diurno más acotado entre las 10:00 y 12:00. Lamas presenta un bloque masivo de 9:00 a 14:00 horas , y Bellavista concentra su "punto caliente" principal entre las 9:00 y 12:00 horas. Esta variabilidad provincial demuestra que las estrategias de control vial deben ser descentralizadas y adaptadas a la realidad de cada localidad. La efectividad del algoritmo DBSCAN para aislar estas concentraciones y diferenciarlas del "ruido" o infracciones esporádicas valida que los patrones identificados son comportamientos reales y no eventos aleatorios.</a:t>
            </a:r>
            <a:endParaRPr sz="1600" dirty="0">
              <a:solidFill>
                <a:schemeClr val="dk1"/>
              </a:solidFill>
              <a:latin typeface="Times New Roman"/>
              <a:ea typeface="Times New Roman"/>
              <a:cs typeface="Times New Roman"/>
              <a:sym typeface="Times New Roman"/>
            </a:endParaRPr>
          </a:p>
        </p:txBody>
      </p:sp>
      <p:pic>
        <p:nvPicPr>
          <p:cNvPr id="2" name="Google Shape;46;p1">
            <a:extLst>
              <a:ext uri="{FF2B5EF4-FFF2-40B4-BE49-F238E27FC236}">
                <a16:creationId xmlns:a16="http://schemas.microsoft.com/office/drawing/2014/main" id="{DD607172-5BB2-B048-6CEB-AFF989AAF874}"/>
              </a:ext>
            </a:extLst>
          </p:cNvPr>
          <p:cNvPicPr preferRelativeResize="0"/>
          <p:nvPr/>
        </p:nvPicPr>
        <p:blipFill rotWithShape="1">
          <a:blip r:embed="rId3">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5BD53311-185C-7789-AA17-4B60DAE7313D}"/>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36307B1D-759F-AF60-65ED-4F26561BB69E}"/>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9C508AC6-DB4A-2782-9484-368BC3BE1C08}"/>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704FE612-D38E-7BD9-9EBA-4303576F494E}"/>
                  </a:ext>
                </a:extLst>
              </p:cNvPr>
              <p:cNvPicPr preferRelativeResize="0"/>
              <p:nvPr/>
            </p:nvPicPr>
            <p:blipFill rotWithShape="1">
              <a:blip r:embed="rId4">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EC7FFBBE-CEFB-1D5C-0B73-4E486408FAB9}"/>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5" name="Google Shape;265;g36f8acf88af_0_3"/>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266" name="Google Shape;266;g36f8acf88af_0_3"/>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15</a:t>
            </a:fld>
            <a:endParaRPr/>
          </a:p>
        </p:txBody>
      </p:sp>
      <p:sp>
        <p:nvSpPr>
          <p:cNvPr id="273" name="Google Shape;273;g36f8acf88af_0_3"/>
          <p:cNvSpPr txBox="1"/>
          <p:nvPr/>
        </p:nvSpPr>
        <p:spPr>
          <a:xfrm>
            <a:off x="307610" y="786332"/>
            <a:ext cx="11720700" cy="554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2300" b="1" dirty="0">
                <a:latin typeface="Times New Roman"/>
                <a:ea typeface="Times New Roman"/>
                <a:cs typeface="Times New Roman"/>
                <a:sym typeface="Times New Roman"/>
              </a:rPr>
              <a:t>3.2 Conclusiones y recomendaciones</a:t>
            </a:r>
            <a:r>
              <a:rPr lang="es-PE" sz="3000" b="1" i="0" u="none" strike="noStrike" cap="none" dirty="0">
                <a:solidFill>
                  <a:srgbClr val="000000"/>
                </a:solidFill>
                <a:latin typeface="Times New Roman"/>
                <a:ea typeface="Times New Roman"/>
                <a:cs typeface="Times New Roman"/>
                <a:sym typeface="Times New Roman"/>
              </a:rPr>
              <a:t> </a:t>
            </a:r>
            <a:endParaRPr sz="3000" b="1" i="0" u="none" strike="noStrike" cap="none" dirty="0">
              <a:solidFill>
                <a:srgbClr val="000000"/>
              </a:solidFill>
              <a:latin typeface="Times New Roman"/>
              <a:ea typeface="Times New Roman"/>
              <a:cs typeface="Times New Roman"/>
              <a:sym typeface="Times New Roman"/>
            </a:endParaRPr>
          </a:p>
        </p:txBody>
      </p:sp>
      <p:sp>
        <p:nvSpPr>
          <p:cNvPr id="274" name="Google Shape;274;g36f8acf88af_0_3"/>
          <p:cNvSpPr txBox="1"/>
          <p:nvPr/>
        </p:nvSpPr>
        <p:spPr>
          <a:xfrm>
            <a:off x="1090325" y="2891100"/>
            <a:ext cx="83514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a:solidFill>
                <a:schemeClr val="dk2"/>
              </a:solidFill>
            </a:endParaRPr>
          </a:p>
        </p:txBody>
      </p:sp>
      <p:sp>
        <p:nvSpPr>
          <p:cNvPr id="275" name="Google Shape;275;g36f8acf88af_0_3"/>
          <p:cNvSpPr txBox="1"/>
          <p:nvPr/>
        </p:nvSpPr>
        <p:spPr>
          <a:xfrm>
            <a:off x="1090325" y="1598680"/>
            <a:ext cx="9837300" cy="358248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PE" sz="1600" dirty="0">
                <a:solidFill>
                  <a:schemeClr val="dk1"/>
                </a:solidFill>
                <a:latin typeface="Times New Roman"/>
                <a:ea typeface="Times New Roman"/>
                <a:cs typeface="Times New Roman"/>
                <a:sym typeface="Times New Roman"/>
              </a:rPr>
              <a:t>A partir de estas conclusiones, se recomienda a las autoridades competentes focalizar los recursos de fiscalización de manera inteligente, concentrándose en los horarios críticos identificados. Esto implica implementar operativos nocturnos rigurosos alrededor de la medianoche y optimizar el patrullaje diurno en la franja de 9:00 a 17:00 horas, ajustando el despliegue a los patrones específicos de cada provincia. Para facilitar una gestión proactiva, se sugiere el desarrollo de un tablero de control o </a:t>
            </a:r>
            <a:r>
              <a:rPr lang="es-PE" sz="1600" dirty="0" err="1">
                <a:solidFill>
                  <a:schemeClr val="dk1"/>
                </a:solidFill>
                <a:latin typeface="Times New Roman"/>
                <a:ea typeface="Times New Roman"/>
                <a:cs typeface="Times New Roman"/>
                <a:sym typeface="Times New Roman"/>
              </a:rPr>
              <a:t>dashboard</a:t>
            </a:r>
            <a:r>
              <a:rPr lang="es-PE" sz="1600" dirty="0">
                <a:solidFill>
                  <a:schemeClr val="dk1"/>
                </a:solidFill>
                <a:latin typeface="Times New Roman"/>
                <a:ea typeface="Times New Roman"/>
                <a:cs typeface="Times New Roman"/>
                <a:sym typeface="Times New Roman"/>
              </a:rPr>
              <a:t> interactivo que permita a las autoridades visualizar los patrones de manera dinámica. </a:t>
            </a:r>
            <a:endParaRPr sz="16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s-PE" sz="1600" dirty="0">
                <a:solidFill>
                  <a:schemeClr val="dk1"/>
                </a:solidFill>
                <a:latin typeface="Times New Roman"/>
                <a:ea typeface="Times New Roman"/>
                <a:cs typeface="Times New Roman"/>
                <a:sym typeface="Times New Roman"/>
              </a:rPr>
              <a:t>Adicionalmente, es recomendable complementar este análisis cuantitativo con estudios cualitativos para investigar las causas subyacentes de estos picos de infracciones, cruzando los datos con los tipos de faltas cometidas. Finalmente, como una futura línea de investigación, se propone la integración de datos de geolocalización para aplicar algoritmos de </a:t>
            </a:r>
            <a:r>
              <a:rPr lang="es-PE" sz="1600" dirty="0" err="1">
                <a:solidFill>
                  <a:schemeClr val="dk1"/>
                </a:solidFill>
                <a:latin typeface="Times New Roman"/>
                <a:ea typeface="Times New Roman"/>
                <a:cs typeface="Times New Roman"/>
                <a:sym typeface="Times New Roman"/>
              </a:rPr>
              <a:t>clustering</a:t>
            </a:r>
            <a:r>
              <a:rPr lang="es-PE" sz="1600" dirty="0">
                <a:solidFill>
                  <a:schemeClr val="dk1"/>
                </a:solidFill>
                <a:latin typeface="Times New Roman"/>
                <a:ea typeface="Times New Roman"/>
                <a:cs typeface="Times New Roman"/>
                <a:sym typeface="Times New Roman"/>
              </a:rPr>
              <a:t> espacial, lo que permitiría crear mapas de calor para un control territorial aún más preciso, identificando no solo cuándo, sino también dónde se concentran las infracciones.</a:t>
            </a:r>
            <a:endParaRPr sz="1600" dirty="0">
              <a:solidFill>
                <a:schemeClr val="dk1"/>
              </a:solidFill>
              <a:latin typeface="Times New Roman"/>
              <a:ea typeface="Times New Roman"/>
              <a:cs typeface="Times New Roman"/>
              <a:sym typeface="Times New Roman"/>
            </a:endParaRPr>
          </a:p>
        </p:txBody>
      </p:sp>
      <p:pic>
        <p:nvPicPr>
          <p:cNvPr id="2" name="Google Shape;46;p1">
            <a:extLst>
              <a:ext uri="{FF2B5EF4-FFF2-40B4-BE49-F238E27FC236}">
                <a16:creationId xmlns:a16="http://schemas.microsoft.com/office/drawing/2014/main" id="{EA441FCC-1514-8654-C1ED-4DCF166E92D9}"/>
              </a:ext>
            </a:extLst>
          </p:cNvPr>
          <p:cNvPicPr preferRelativeResize="0"/>
          <p:nvPr/>
        </p:nvPicPr>
        <p:blipFill rotWithShape="1">
          <a:blip r:embed="rId3">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A434AF44-A347-0599-7720-5C97F9662980}"/>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870D5FA4-3701-E9E6-BD0B-7A1C755EE39B}"/>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A200002D-BFD9-CB6A-F090-5E78FD7E9765}"/>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DEFD051F-8927-88E9-21B6-314DDFF9F67A}"/>
                  </a:ext>
                </a:extLst>
              </p:cNvPr>
              <p:cNvPicPr preferRelativeResize="0"/>
              <p:nvPr/>
            </p:nvPicPr>
            <p:blipFill rotWithShape="1">
              <a:blip r:embed="rId4">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9AB9C087-1D8C-B7F4-BDE7-7CD0CB4F46AC}"/>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1" name="Google Shape;281;g344e6fef586_0_12"/>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282" name="Google Shape;282;g344e6fef586_0_12"/>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16</a:t>
            </a:fld>
            <a:endParaRPr/>
          </a:p>
        </p:txBody>
      </p:sp>
      <p:sp>
        <p:nvSpPr>
          <p:cNvPr id="283" name="Google Shape;283;g344e6fef586_0_12"/>
          <p:cNvSpPr txBox="1"/>
          <p:nvPr/>
        </p:nvSpPr>
        <p:spPr>
          <a:xfrm>
            <a:off x="307580" y="1375735"/>
            <a:ext cx="11720700" cy="554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a:latin typeface="Times New Roman"/>
                <a:ea typeface="Times New Roman"/>
                <a:cs typeface="Times New Roman"/>
                <a:sym typeface="Times New Roman"/>
              </a:rPr>
              <a:t>Anexos</a:t>
            </a:r>
            <a:r>
              <a:rPr lang="es-PE" sz="3000" b="1" i="0" u="none" strike="noStrike" cap="none">
                <a:solidFill>
                  <a:srgbClr val="000000"/>
                </a:solidFill>
                <a:latin typeface="Times New Roman"/>
                <a:ea typeface="Times New Roman"/>
                <a:cs typeface="Times New Roman"/>
                <a:sym typeface="Times New Roman"/>
              </a:rPr>
              <a:t>  </a:t>
            </a:r>
            <a:endParaRPr sz="3000" b="1" i="0" u="none" strike="noStrike" cap="none">
              <a:solidFill>
                <a:srgbClr val="000000"/>
              </a:solidFill>
              <a:latin typeface="Times New Roman"/>
              <a:ea typeface="Times New Roman"/>
              <a:cs typeface="Times New Roman"/>
              <a:sym typeface="Times New Roman"/>
            </a:endParaRPr>
          </a:p>
        </p:txBody>
      </p:sp>
      <p:pic>
        <p:nvPicPr>
          <p:cNvPr id="289" name="Google Shape;289;g344e6fef586_0_12"/>
          <p:cNvPicPr preferRelativeResize="0"/>
          <p:nvPr/>
        </p:nvPicPr>
        <p:blipFill>
          <a:blip r:embed="rId3">
            <a:alphaModFix/>
          </a:blip>
          <a:stretch>
            <a:fillRect/>
          </a:stretch>
        </p:blipFill>
        <p:spPr>
          <a:xfrm>
            <a:off x="695325" y="2709813"/>
            <a:ext cx="5400675" cy="2752725"/>
          </a:xfrm>
          <a:prstGeom prst="rect">
            <a:avLst/>
          </a:prstGeom>
          <a:noFill/>
          <a:ln>
            <a:noFill/>
          </a:ln>
        </p:spPr>
      </p:pic>
      <p:pic>
        <p:nvPicPr>
          <p:cNvPr id="290" name="Google Shape;290;g344e6fef586_0_12"/>
          <p:cNvPicPr preferRelativeResize="0"/>
          <p:nvPr/>
        </p:nvPicPr>
        <p:blipFill>
          <a:blip r:embed="rId4">
            <a:alphaModFix/>
          </a:blip>
          <a:stretch>
            <a:fillRect/>
          </a:stretch>
        </p:blipFill>
        <p:spPr>
          <a:xfrm>
            <a:off x="6269975" y="2668788"/>
            <a:ext cx="5400675" cy="2809875"/>
          </a:xfrm>
          <a:prstGeom prst="rect">
            <a:avLst/>
          </a:prstGeom>
          <a:noFill/>
          <a:ln>
            <a:noFill/>
          </a:ln>
        </p:spPr>
      </p:pic>
      <p:pic>
        <p:nvPicPr>
          <p:cNvPr id="2" name="Google Shape;46;p1">
            <a:extLst>
              <a:ext uri="{FF2B5EF4-FFF2-40B4-BE49-F238E27FC236}">
                <a16:creationId xmlns:a16="http://schemas.microsoft.com/office/drawing/2014/main" id="{7FCCF3D9-F443-AB47-3BDF-F3E8369633BE}"/>
              </a:ext>
            </a:extLst>
          </p:cNvPr>
          <p:cNvPicPr preferRelativeResize="0"/>
          <p:nvPr/>
        </p:nvPicPr>
        <p:blipFill rotWithShape="1">
          <a:blip r:embed="rId5">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92312AE0-497A-75FC-AFB9-AC70C1217700}"/>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F761A543-CDA4-AA66-CC73-E700B9E2268E}"/>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CC7129F0-A703-807F-EFE3-C6875EF79CFF}"/>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7251184A-6FB3-7358-0733-A01F125A57D4}"/>
                  </a:ext>
                </a:extLst>
              </p:cNvPr>
              <p:cNvPicPr preferRelativeResize="0"/>
              <p:nvPr/>
            </p:nvPicPr>
            <p:blipFill rotWithShape="1">
              <a:blip r:embed="rId6">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D724F07B-D85A-6B12-7EFB-19160C0AF1BC}"/>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6" name="Google Shape;296;g344e6fef586_0_27"/>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297" name="Google Shape;297;g344e6fef586_0_27"/>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17</a:t>
            </a:fld>
            <a:endParaRPr/>
          </a:p>
        </p:txBody>
      </p:sp>
      <p:pic>
        <p:nvPicPr>
          <p:cNvPr id="303" name="Google Shape;303;g344e6fef586_0_27"/>
          <p:cNvPicPr preferRelativeResize="0"/>
          <p:nvPr/>
        </p:nvPicPr>
        <p:blipFill>
          <a:blip r:embed="rId3">
            <a:alphaModFix/>
          </a:blip>
          <a:stretch>
            <a:fillRect/>
          </a:stretch>
        </p:blipFill>
        <p:spPr>
          <a:xfrm>
            <a:off x="563975" y="2547888"/>
            <a:ext cx="5400675" cy="3076575"/>
          </a:xfrm>
          <a:prstGeom prst="rect">
            <a:avLst/>
          </a:prstGeom>
          <a:noFill/>
          <a:ln>
            <a:noFill/>
          </a:ln>
        </p:spPr>
      </p:pic>
      <p:pic>
        <p:nvPicPr>
          <p:cNvPr id="304" name="Google Shape;304;g344e6fef586_0_27"/>
          <p:cNvPicPr preferRelativeResize="0"/>
          <p:nvPr/>
        </p:nvPicPr>
        <p:blipFill>
          <a:blip r:embed="rId4">
            <a:alphaModFix/>
          </a:blip>
          <a:stretch>
            <a:fillRect/>
          </a:stretch>
        </p:blipFill>
        <p:spPr>
          <a:xfrm>
            <a:off x="6096000" y="2560038"/>
            <a:ext cx="5400675" cy="2647950"/>
          </a:xfrm>
          <a:prstGeom prst="rect">
            <a:avLst/>
          </a:prstGeom>
          <a:noFill/>
          <a:ln>
            <a:noFill/>
          </a:ln>
        </p:spPr>
      </p:pic>
      <p:sp>
        <p:nvSpPr>
          <p:cNvPr id="305" name="Google Shape;305;g344e6fef586_0_27"/>
          <p:cNvSpPr txBox="1"/>
          <p:nvPr/>
        </p:nvSpPr>
        <p:spPr>
          <a:xfrm>
            <a:off x="307580" y="1375735"/>
            <a:ext cx="11720700" cy="554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a:latin typeface="Times New Roman"/>
                <a:ea typeface="Times New Roman"/>
                <a:cs typeface="Times New Roman"/>
                <a:sym typeface="Times New Roman"/>
              </a:rPr>
              <a:t>Anexos</a:t>
            </a:r>
            <a:r>
              <a:rPr lang="es-PE" sz="3000" b="1" i="0" u="none" strike="noStrike" cap="none">
                <a:solidFill>
                  <a:srgbClr val="000000"/>
                </a:solidFill>
                <a:latin typeface="Times New Roman"/>
                <a:ea typeface="Times New Roman"/>
                <a:cs typeface="Times New Roman"/>
                <a:sym typeface="Times New Roman"/>
              </a:rPr>
              <a:t>  </a:t>
            </a:r>
            <a:endParaRPr sz="3000" b="1" i="0" u="none" strike="noStrike" cap="none">
              <a:solidFill>
                <a:srgbClr val="000000"/>
              </a:solidFill>
              <a:latin typeface="Times New Roman"/>
              <a:ea typeface="Times New Roman"/>
              <a:cs typeface="Times New Roman"/>
              <a:sym typeface="Times New Roman"/>
            </a:endParaRPr>
          </a:p>
        </p:txBody>
      </p:sp>
      <p:pic>
        <p:nvPicPr>
          <p:cNvPr id="2" name="Google Shape;46;p1">
            <a:extLst>
              <a:ext uri="{FF2B5EF4-FFF2-40B4-BE49-F238E27FC236}">
                <a16:creationId xmlns:a16="http://schemas.microsoft.com/office/drawing/2014/main" id="{4B67DCB8-71EC-E0C8-F5B1-EDE83C265311}"/>
              </a:ext>
            </a:extLst>
          </p:cNvPr>
          <p:cNvPicPr preferRelativeResize="0"/>
          <p:nvPr/>
        </p:nvPicPr>
        <p:blipFill rotWithShape="1">
          <a:blip r:embed="rId5">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C3FA6317-2017-E83B-8D28-A1455C8EEFD3}"/>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5664F45D-2644-7C8A-C0D8-333FFCC00C4D}"/>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3B1C3E66-5945-DB18-F9C5-3977DE5E8FC0}"/>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ACACABC2-DFAE-9369-FD27-D647251516F4}"/>
                  </a:ext>
                </a:extLst>
              </p:cNvPr>
              <p:cNvPicPr preferRelativeResize="0"/>
              <p:nvPr/>
            </p:nvPicPr>
            <p:blipFill rotWithShape="1">
              <a:blip r:embed="rId6">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2B69977B-FEED-0521-237F-87A5C592BED9}"/>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1" name="Google Shape;311;g344e6fef586_0_42"/>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312" name="Google Shape;312;g344e6fef586_0_42"/>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18</a:t>
            </a:fld>
            <a:endParaRPr/>
          </a:p>
        </p:txBody>
      </p:sp>
      <p:pic>
        <p:nvPicPr>
          <p:cNvPr id="318" name="Google Shape;318;g344e6fef586_0_42"/>
          <p:cNvPicPr preferRelativeResize="0"/>
          <p:nvPr/>
        </p:nvPicPr>
        <p:blipFill>
          <a:blip r:embed="rId3">
            <a:alphaModFix/>
          </a:blip>
          <a:stretch>
            <a:fillRect/>
          </a:stretch>
        </p:blipFill>
        <p:spPr>
          <a:xfrm>
            <a:off x="390000" y="2600275"/>
            <a:ext cx="5400675" cy="2971800"/>
          </a:xfrm>
          <a:prstGeom prst="rect">
            <a:avLst/>
          </a:prstGeom>
          <a:noFill/>
          <a:ln>
            <a:noFill/>
          </a:ln>
        </p:spPr>
      </p:pic>
      <p:pic>
        <p:nvPicPr>
          <p:cNvPr id="319" name="Google Shape;319;g344e6fef586_0_42"/>
          <p:cNvPicPr preferRelativeResize="0"/>
          <p:nvPr/>
        </p:nvPicPr>
        <p:blipFill>
          <a:blip r:embed="rId4">
            <a:alphaModFix/>
          </a:blip>
          <a:stretch>
            <a:fillRect/>
          </a:stretch>
        </p:blipFill>
        <p:spPr>
          <a:xfrm>
            <a:off x="5997425" y="2552913"/>
            <a:ext cx="5400675" cy="3609975"/>
          </a:xfrm>
          <a:prstGeom prst="rect">
            <a:avLst/>
          </a:prstGeom>
          <a:noFill/>
          <a:ln>
            <a:noFill/>
          </a:ln>
        </p:spPr>
      </p:pic>
      <p:sp>
        <p:nvSpPr>
          <p:cNvPr id="320" name="Google Shape;320;g344e6fef586_0_42"/>
          <p:cNvSpPr txBox="1"/>
          <p:nvPr/>
        </p:nvSpPr>
        <p:spPr>
          <a:xfrm>
            <a:off x="307580" y="1375735"/>
            <a:ext cx="11720700" cy="554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a:latin typeface="Times New Roman"/>
                <a:ea typeface="Times New Roman"/>
                <a:cs typeface="Times New Roman"/>
                <a:sym typeface="Times New Roman"/>
              </a:rPr>
              <a:t>Anexos</a:t>
            </a:r>
            <a:r>
              <a:rPr lang="es-PE" sz="3000" b="1" i="0" u="none" strike="noStrike" cap="none">
                <a:solidFill>
                  <a:srgbClr val="000000"/>
                </a:solidFill>
                <a:latin typeface="Times New Roman"/>
                <a:ea typeface="Times New Roman"/>
                <a:cs typeface="Times New Roman"/>
                <a:sym typeface="Times New Roman"/>
              </a:rPr>
              <a:t>  </a:t>
            </a:r>
            <a:endParaRPr sz="3000" b="1" i="0" u="none" strike="noStrike" cap="none">
              <a:solidFill>
                <a:srgbClr val="000000"/>
              </a:solidFill>
              <a:latin typeface="Times New Roman"/>
              <a:ea typeface="Times New Roman"/>
              <a:cs typeface="Times New Roman"/>
              <a:sym typeface="Times New Roman"/>
            </a:endParaRPr>
          </a:p>
        </p:txBody>
      </p:sp>
      <p:pic>
        <p:nvPicPr>
          <p:cNvPr id="2" name="Google Shape;46;p1">
            <a:extLst>
              <a:ext uri="{FF2B5EF4-FFF2-40B4-BE49-F238E27FC236}">
                <a16:creationId xmlns:a16="http://schemas.microsoft.com/office/drawing/2014/main" id="{9F3947AC-93B2-B562-324B-5DCA2EE2E792}"/>
              </a:ext>
            </a:extLst>
          </p:cNvPr>
          <p:cNvPicPr preferRelativeResize="0"/>
          <p:nvPr/>
        </p:nvPicPr>
        <p:blipFill rotWithShape="1">
          <a:blip r:embed="rId5">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ABFBD9CE-3E9F-B91E-657F-C9C8737D4DBA}"/>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0C9F8B72-A3A6-7162-BA83-20888D8F553A}"/>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C674792B-92DF-4662-E899-FF6DCCF3A860}"/>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DC4E5F90-7B8B-DE26-8B7C-CA4A6F3C8B3D}"/>
                  </a:ext>
                </a:extLst>
              </p:cNvPr>
              <p:cNvPicPr preferRelativeResize="0"/>
              <p:nvPr/>
            </p:nvPicPr>
            <p:blipFill rotWithShape="1">
              <a:blip r:embed="rId6">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8309FF40-901B-5BF6-BB98-E3B4F2921BA4}"/>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6" name="Google Shape;326;g344e6fef586_0_67"/>
          <p:cNvSpPr txBox="1"/>
          <p:nvPr/>
        </p:nvSpPr>
        <p:spPr>
          <a:xfrm>
            <a:off x="-125" y="6589400"/>
            <a:ext cx="12192000" cy="287100"/>
          </a:xfrm>
          <a:prstGeom prst="rect">
            <a:avLst/>
          </a:prstGeom>
          <a:solidFill>
            <a:schemeClr val="accent1"/>
          </a:solid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327" name="Google Shape;327;g344e6fef586_0_67"/>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19</a:t>
            </a:fld>
            <a:endParaRPr/>
          </a:p>
        </p:txBody>
      </p:sp>
      <p:pic>
        <p:nvPicPr>
          <p:cNvPr id="333" name="Google Shape;333;g344e6fef586_0_67"/>
          <p:cNvPicPr preferRelativeResize="0"/>
          <p:nvPr/>
        </p:nvPicPr>
        <p:blipFill>
          <a:blip r:embed="rId3">
            <a:alphaModFix/>
          </a:blip>
          <a:stretch>
            <a:fillRect/>
          </a:stretch>
        </p:blipFill>
        <p:spPr>
          <a:xfrm>
            <a:off x="3236063" y="2734313"/>
            <a:ext cx="5400675" cy="3352800"/>
          </a:xfrm>
          <a:prstGeom prst="rect">
            <a:avLst/>
          </a:prstGeom>
          <a:noFill/>
          <a:ln>
            <a:noFill/>
          </a:ln>
        </p:spPr>
      </p:pic>
      <p:sp>
        <p:nvSpPr>
          <p:cNvPr id="334" name="Google Shape;334;g344e6fef586_0_67"/>
          <p:cNvSpPr txBox="1"/>
          <p:nvPr/>
        </p:nvSpPr>
        <p:spPr>
          <a:xfrm>
            <a:off x="307580" y="1375735"/>
            <a:ext cx="11720700" cy="554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a:latin typeface="Times New Roman"/>
                <a:ea typeface="Times New Roman"/>
                <a:cs typeface="Times New Roman"/>
                <a:sym typeface="Times New Roman"/>
              </a:rPr>
              <a:t>Anexos</a:t>
            </a:r>
            <a:r>
              <a:rPr lang="es-PE" sz="3000" b="1" i="0" u="none" strike="noStrike" cap="none">
                <a:solidFill>
                  <a:srgbClr val="000000"/>
                </a:solidFill>
                <a:latin typeface="Times New Roman"/>
                <a:ea typeface="Times New Roman"/>
                <a:cs typeface="Times New Roman"/>
                <a:sym typeface="Times New Roman"/>
              </a:rPr>
              <a:t>  </a:t>
            </a:r>
            <a:endParaRPr sz="3000" b="1" i="0" u="none" strike="noStrike" cap="none">
              <a:solidFill>
                <a:srgbClr val="000000"/>
              </a:solidFill>
              <a:latin typeface="Times New Roman"/>
              <a:ea typeface="Times New Roman"/>
              <a:cs typeface="Times New Roman"/>
              <a:sym typeface="Times New Roman"/>
            </a:endParaRPr>
          </a:p>
        </p:txBody>
      </p:sp>
      <p:pic>
        <p:nvPicPr>
          <p:cNvPr id="2" name="Google Shape;46;p1">
            <a:extLst>
              <a:ext uri="{FF2B5EF4-FFF2-40B4-BE49-F238E27FC236}">
                <a16:creationId xmlns:a16="http://schemas.microsoft.com/office/drawing/2014/main" id="{C2641EDA-9A7B-C54A-2D6A-1E1F8F41B15A}"/>
              </a:ext>
            </a:extLst>
          </p:cNvPr>
          <p:cNvPicPr preferRelativeResize="0"/>
          <p:nvPr/>
        </p:nvPicPr>
        <p:blipFill rotWithShape="1">
          <a:blip r:embed="rId4">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7DF8A0FB-1974-65D7-737C-F0648272B3F2}"/>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260678F6-BAC3-081D-C5F4-332F3A0DA5A8}"/>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F97312F2-BE34-3C56-56CE-81DC33A06343}"/>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8F4CDA53-9F36-24E2-E3A3-C1E6E0854C42}"/>
                  </a:ext>
                </a:extLst>
              </p:cNvPr>
              <p:cNvPicPr preferRelativeResize="0"/>
              <p:nvPr/>
            </p:nvPicPr>
            <p:blipFill rotWithShape="1">
              <a:blip r:embed="rId5">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D222AF44-1E3E-9B31-C204-FAF557AB89D0}"/>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40" name="Google Shape;340;p6"/>
          <p:cNvSpPr txBox="1"/>
          <p:nvPr/>
        </p:nvSpPr>
        <p:spPr>
          <a:xfrm>
            <a:off x="-125" y="6589400"/>
            <a:ext cx="12192000" cy="2871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341" name="Google Shape;341;p6"/>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20</a:t>
            </a:fld>
            <a:endParaRPr/>
          </a:p>
        </p:txBody>
      </p:sp>
      <p:sp>
        <p:nvSpPr>
          <p:cNvPr id="342" name="Google Shape;342;p6"/>
          <p:cNvSpPr txBox="1"/>
          <p:nvPr/>
        </p:nvSpPr>
        <p:spPr>
          <a:xfrm>
            <a:off x="307580" y="1344750"/>
            <a:ext cx="11720700" cy="5808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i="0" u="none" strike="noStrike" cap="none">
                <a:solidFill>
                  <a:srgbClr val="000000"/>
                </a:solidFill>
                <a:latin typeface="Times New Roman"/>
                <a:ea typeface="Times New Roman"/>
                <a:cs typeface="Times New Roman"/>
                <a:sym typeface="Times New Roman"/>
              </a:rPr>
              <a:t>Referencias</a:t>
            </a:r>
            <a:endParaRPr sz="3000" b="1" i="0" u="none" strike="noStrike" cap="none">
              <a:solidFill>
                <a:srgbClr val="000000"/>
              </a:solidFill>
              <a:latin typeface="Times New Roman"/>
              <a:ea typeface="Times New Roman"/>
              <a:cs typeface="Times New Roman"/>
              <a:sym typeface="Times New Roman"/>
            </a:endParaRPr>
          </a:p>
        </p:txBody>
      </p:sp>
      <p:sp>
        <p:nvSpPr>
          <p:cNvPr id="348" name="Google Shape;348;p6"/>
          <p:cNvSpPr txBox="1"/>
          <p:nvPr/>
        </p:nvSpPr>
        <p:spPr>
          <a:xfrm>
            <a:off x="574050" y="2074500"/>
            <a:ext cx="9727500" cy="1354500"/>
          </a:xfrm>
          <a:prstGeom prst="rect">
            <a:avLst/>
          </a:prstGeom>
          <a:noFill/>
          <a:ln>
            <a:noFill/>
          </a:ln>
        </p:spPr>
        <p:txBody>
          <a:bodyPr spcFirstLastPara="1" wrap="square" lIns="91425" tIns="91425" rIns="91425" bIns="91425" anchor="t" anchorCtr="0">
            <a:spAutoFit/>
          </a:bodyPr>
          <a:lstStyle/>
          <a:p>
            <a:pPr marL="457200" lvl="0" indent="-457200" algn="l" rtl="0">
              <a:lnSpc>
                <a:spcPct val="150000"/>
              </a:lnSpc>
              <a:spcBef>
                <a:spcPts val="1200"/>
              </a:spcBef>
              <a:spcAft>
                <a:spcPts val="0"/>
              </a:spcAft>
              <a:buNone/>
            </a:pPr>
            <a:r>
              <a:rPr lang="es-PE" sz="1200">
                <a:solidFill>
                  <a:schemeClr val="dk1"/>
                </a:solidFill>
                <a:latin typeface="Times New Roman"/>
                <a:ea typeface="Times New Roman"/>
                <a:cs typeface="Times New Roman"/>
                <a:sym typeface="Times New Roman"/>
              </a:rPr>
              <a:t>Creswell, J. W., &amp; Creswell, J. D. (2018). </a:t>
            </a:r>
            <a:r>
              <a:rPr lang="es-PE" sz="1200" i="1">
                <a:solidFill>
                  <a:schemeClr val="dk1"/>
                </a:solidFill>
                <a:latin typeface="Times New Roman"/>
                <a:ea typeface="Times New Roman"/>
                <a:cs typeface="Times New Roman"/>
                <a:sym typeface="Times New Roman"/>
              </a:rPr>
              <a:t>Research design: Qualitative, quantitative, and mixed methods approaches</a:t>
            </a:r>
            <a:r>
              <a:rPr lang="es-PE" sz="1200">
                <a:solidFill>
                  <a:schemeClr val="dk1"/>
                </a:solidFill>
                <a:latin typeface="Times New Roman"/>
                <a:ea typeface="Times New Roman"/>
                <a:cs typeface="Times New Roman"/>
                <a:sym typeface="Times New Roman"/>
              </a:rPr>
              <a:t> (5ª ed.). SAGE Publications.</a:t>
            </a:r>
            <a:r>
              <a:rPr lang="es-PE" sz="1200">
                <a:solidFill>
                  <a:schemeClr val="dk1"/>
                </a:solidFill>
                <a:uFill>
                  <a:noFill/>
                </a:u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 </a:t>
            </a:r>
            <a:r>
              <a:rPr lang="es-PE" sz="1200" u="sng">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https://spada.uns.ac.id/pluginfile.php/510378/mod_resource/content/1/creswell.pdf</a:t>
            </a:r>
            <a:endParaRPr sz="1200" u="sng">
              <a:solidFill>
                <a:srgbClr val="1155CC"/>
              </a:solidFill>
              <a:latin typeface="Times New Roman"/>
              <a:ea typeface="Times New Roman"/>
              <a:cs typeface="Times New Roman"/>
              <a:sym typeface="Times New Roman"/>
            </a:endParaRPr>
          </a:p>
          <a:p>
            <a:pPr marL="457200" lvl="0" indent="-457200" algn="l" rtl="0">
              <a:lnSpc>
                <a:spcPct val="150000"/>
              </a:lnSpc>
              <a:spcBef>
                <a:spcPts val="1200"/>
              </a:spcBef>
              <a:spcAft>
                <a:spcPts val="1200"/>
              </a:spcAft>
              <a:buNone/>
            </a:pPr>
            <a:r>
              <a:rPr lang="es-PE" sz="1200">
                <a:solidFill>
                  <a:schemeClr val="dk1"/>
                </a:solidFill>
                <a:latin typeface="Times New Roman"/>
                <a:ea typeface="Times New Roman"/>
                <a:cs typeface="Times New Roman"/>
                <a:sym typeface="Times New Roman"/>
              </a:rPr>
              <a:t>Hair, J. F., Babin, B. J., Money, A. H., &amp; Samouel, P. (2019). </a:t>
            </a:r>
            <a:r>
              <a:rPr lang="es-PE" sz="1200" i="1">
                <a:solidFill>
                  <a:schemeClr val="dk1"/>
                </a:solidFill>
                <a:latin typeface="Times New Roman"/>
                <a:ea typeface="Times New Roman"/>
                <a:cs typeface="Times New Roman"/>
                <a:sym typeface="Times New Roman"/>
              </a:rPr>
              <a:t>Essentials of business research methods</a:t>
            </a:r>
            <a:r>
              <a:rPr lang="es-PE" sz="1200">
                <a:solidFill>
                  <a:schemeClr val="dk1"/>
                </a:solidFill>
                <a:latin typeface="Times New Roman"/>
                <a:ea typeface="Times New Roman"/>
                <a:cs typeface="Times New Roman"/>
                <a:sym typeface="Times New Roman"/>
              </a:rPr>
              <a:t> (2ª ed.). Routledge.</a:t>
            </a:r>
            <a:r>
              <a:rPr lang="es-PE" sz="1200">
                <a:solidFill>
                  <a:schemeClr val="dk1"/>
                </a:solidFill>
                <a:uFill>
                  <a:noFill/>
                </a:u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 </a:t>
            </a:r>
            <a:r>
              <a:rPr lang="es-PE" sz="1200" u="sng">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https://doi.org/10.4324/9780429203374</a:t>
            </a:r>
            <a:endParaRPr/>
          </a:p>
        </p:txBody>
      </p:sp>
      <p:sp>
        <p:nvSpPr>
          <p:cNvPr id="349" name="Google Shape;349;p6"/>
          <p:cNvSpPr txBox="1"/>
          <p:nvPr/>
        </p:nvSpPr>
        <p:spPr>
          <a:xfrm>
            <a:off x="606025" y="3514775"/>
            <a:ext cx="10979700" cy="1354500"/>
          </a:xfrm>
          <a:prstGeom prst="rect">
            <a:avLst/>
          </a:prstGeom>
          <a:noFill/>
          <a:ln>
            <a:noFill/>
          </a:ln>
        </p:spPr>
        <p:txBody>
          <a:bodyPr spcFirstLastPara="1" wrap="square" lIns="91425" tIns="91425" rIns="91425" bIns="91425" anchor="t" anchorCtr="0">
            <a:spAutoFit/>
          </a:bodyPr>
          <a:lstStyle/>
          <a:p>
            <a:pPr marL="457200" lvl="0" indent="-457200" algn="l" rtl="0">
              <a:lnSpc>
                <a:spcPct val="150000"/>
              </a:lnSpc>
              <a:spcBef>
                <a:spcPts val="1200"/>
              </a:spcBef>
              <a:spcAft>
                <a:spcPts val="0"/>
              </a:spcAft>
              <a:buNone/>
            </a:pPr>
            <a:r>
              <a:rPr lang="es-PE" sz="1200">
                <a:solidFill>
                  <a:schemeClr val="dk1"/>
                </a:solidFill>
                <a:latin typeface="Times New Roman"/>
                <a:ea typeface="Times New Roman"/>
                <a:cs typeface="Times New Roman"/>
                <a:sym typeface="Times New Roman"/>
              </a:rPr>
              <a:t>Punch, K. F. (2014). </a:t>
            </a:r>
            <a:r>
              <a:rPr lang="es-PE" sz="1200" i="1">
                <a:solidFill>
                  <a:schemeClr val="dk1"/>
                </a:solidFill>
                <a:latin typeface="Times New Roman"/>
                <a:ea typeface="Times New Roman"/>
                <a:cs typeface="Times New Roman"/>
                <a:sym typeface="Times New Roman"/>
              </a:rPr>
              <a:t>Introduction to social research: Quantitative and qualitative approaches</a:t>
            </a:r>
            <a:r>
              <a:rPr lang="es-PE" sz="1200">
                <a:solidFill>
                  <a:schemeClr val="dk1"/>
                </a:solidFill>
                <a:latin typeface="Times New Roman"/>
                <a:ea typeface="Times New Roman"/>
                <a:cs typeface="Times New Roman"/>
                <a:sym typeface="Times New Roman"/>
              </a:rPr>
              <a:t> (3ª ed.). SAGE Publications.</a:t>
            </a:r>
            <a:r>
              <a:rPr lang="es-PE" sz="1200">
                <a:solidFill>
                  <a:schemeClr val="dk1"/>
                </a:solidFill>
                <a:uFill>
                  <a:noFill/>
                </a:u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 </a:t>
            </a:r>
            <a:r>
              <a:rPr lang="es-PE" sz="12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https://us.sagepub.com/en-us/sam/introduction-to-social-research/book237782</a:t>
            </a:r>
            <a:endParaRPr sz="1200" u="sng">
              <a:solidFill>
                <a:srgbClr val="1155CC"/>
              </a:solidFill>
              <a:latin typeface="Times New Roman"/>
              <a:ea typeface="Times New Roman"/>
              <a:cs typeface="Times New Roman"/>
              <a:sym typeface="Times New Roman"/>
            </a:endParaRPr>
          </a:p>
          <a:p>
            <a:pPr marL="457200" lvl="0" indent="-457200" algn="l" rtl="0">
              <a:lnSpc>
                <a:spcPct val="150000"/>
              </a:lnSpc>
              <a:spcBef>
                <a:spcPts val="1200"/>
              </a:spcBef>
              <a:spcAft>
                <a:spcPts val="1200"/>
              </a:spcAft>
              <a:buNone/>
            </a:pPr>
            <a:r>
              <a:rPr lang="es-PE" sz="1200">
                <a:solidFill>
                  <a:schemeClr val="dk1"/>
                </a:solidFill>
                <a:latin typeface="Times New Roman"/>
                <a:ea typeface="Times New Roman"/>
                <a:cs typeface="Times New Roman"/>
                <a:sym typeface="Times New Roman"/>
              </a:rPr>
              <a:t>Shields, P. M., &amp; Rangarajan, N. (2013). </a:t>
            </a:r>
            <a:r>
              <a:rPr lang="es-PE" sz="1200" i="1">
                <a:solidFill>
                  <a:schemeClr val="dk1"/>
                </a:solidFill>
                <a:latin typeface="Times New Roman"/>
                <a:ea typeface="Times New Roman"/>
                <a:cs typeface="Times New Roman"/>
                <a:sym typeface="Times New Roman"/>
              </a:rPr>
              <a:t>A playbook for research methods: Integrating conceptual frameworks and project management</a:t>
            </a:r>
            <a:r>
              <a:rPr lang="es-PE" sz="1200">
                <a:solidFill>
                  <a:schemeClr val="dk1"/>
                </a:solidFill>
                <a:latin typeface="Times New Roman"/>
                <a:ea typeface="Times New Roman"/>
                <a:cs typeface="Times New Roman"/>
                <a:sym typeface="Times New Roman"/>
              </a:rPr>
              <a:t>. New Forums Press.</a:t>
            </a:r>
            <a:r>
              <a:rPr lang="es-PE" sz="1200">
                <a:solidFill>
                  <a:schemeClr val="dk1"/>
                </a:solidFill>
                <a:uFill>
                  <a:noFill/>
                </a:u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 </a:t>
            </a:r>
            <a:r>
              <a:rPr lang="es-PE" sz="1200" u="sng">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https://www.researchgate.net/publication/263046108_A_Playbook_for_Research_Methods_Integrating_Conceptual_Frameworks_and_Project_Management</a:t>
            </a:r>
            <a:endParaRPr/>
          </a:p>
        </p:txBody>
      </p:sp>
      <p:sp>
        <p:nvSpPr>
          <p:cNvPr id="350" name="Google Shape;350;p6"/>
          <p:cNvSpPr txBox="1"/>
          <p:nvPr/>
        </p:nvSpPr>
        <p:spPr>
          <a:xfrm>
            <a:off x="574050" y="5017025"/>
            <a:ext cx="10304400" cy="1200600"/>
          </a:xfrm>
          <a:prstGeom prst="rect">
            <a:avLst/>
          </a:prstGeom>
          <a:noFill/>
          <a:ln>
            <a:noFill/>
          </a:ln>
        </p:spPr>
        <p:txBody>
          <a:bodyPr spcFirstLastPara="1" wrap="square" lIns="91425" tIns="91425" rIns="91425" bIns="91425" anchor="t" anchorCtr="0">
            <a:spAutoFit/>
          </a:bodyPr>
          <a:lstStyle/>
          <a:p>
            <a:pPr marL="457200" lvl="0" indent="-457200" algn="l" rtl="0">
              <a:lnSpc>
                <a:spcPct val="150000"/>
              </a:lnSpc>
              <a:spcBef>
                <a:spcPts val="0"/>
              </a:spcBef>
              <a:spcAft>
                <a:spcPts val="0"/>
              </a:spcAft>
              <a:buNone/>
            </a:pPr>
            <a:r>
              <a:rPr lang="es-PE" sz="1200">
                <a:solidFill>
                  <a:schemeClr val="dk1"/>
                </a:solidFill>
                <a:latin typeface="Times New Roman"/>
                <a:ea typeface="Times New Roman"/>
                <a:cs typeface="Times New Roman"/>
                <a:sym typeface="Times New Roman"/>
              </a:rPr>
              <a:t>Alrubaye, J. S., &amp; Shahgholi Ghahfarokhi, B. (2023). Resource‑aware DBSCAN‑based re‑clustering in hybrid C‑V2X/DSRC vehicular networks. PLOS ONE, 18(10), e0293662. </a:t>
            </a:r>
            <a:r>
              <a:rPr lang="es-PE" sz="1200" u="sng">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https://doi.org/10.1371/journal.pone.0293662</a:t>
            </a:r>
            <a:r>
              <a:rPr lang="es-PE"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r>
              <a:rPr lang="es-PE" sz="1200">
                <a:solidFill>
                  <a:schemeClr val="dk1"/>
                </a:solidFill>
                <a:latin typeface="Times New Roman"/>
                <a:ea typeface="Times New Roman"/>
                <a:cs typeface="Times New Roman"/>
                <a:sym typeface="Times New Roman"/>
              </a:rPr>
              <a:t>Balusamy, B. A., Abirami, R., Kadry, N., &amp; Gandomi, A. H. (2021). Big data: Concepts, technology, and architecture. John Wiley &amp; Sons. </a:t>
            </a:r>
            <a:r>
              <a:rPr lang="es-PE" sz="1200" u="sng">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https://app.knovel.com/hotlink/toc/id:kpBDCTA001/big-data-concepts-technology/big-data-concepts-technology</a:t>
            </a:r>
            <a:r>
              <a:rPr lang="es-PE" sz="1200">
                <a:solidFill>
                  <a:schemeClr val="dk1"/>
                </a:solidFill>
                <a:latin typeface="Times New Roman"/>
                <a:ea typeface="Times New Roman"/>
                <a:cs typeface="Times New Roman"/>
                <a:sym typeface="Times New Roman"/>
              </a:rPr>
              <a:t> </a:t>
            </a:r>
            <a:endParaRPr/>
          </a:p>
        </p:txBody>
      </p:sp>
      <p:pic>
        <p:nvPicPr>
          <p:cNvPr id="2" name="Google Shape;46;p1">
            <a:extLst>
              <a:ext uri="{FF2B5EF4-FFF2-40B4-BE49-F238E27FC236}">
                <a16:creationId xmlns:a16="http://schemas.microsoft.com/office/drawing/2014/main" id="{4E89E6C7-68EA-6F58-F359-F3E2D95C3632}"/>
              </a:ext>
            </a:extLst>
          </p:cNvPr>
          <p:cNvPicPr preferRelativeResize="0"/>
          <p:nvPr/>
        </p:nvPicPr>
        <p:blipFill rotWithShape="1">
          <a:blip r:embed="rId9">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83882D10-A704-1179-E145-5204A3EF4963}"/>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3A3158DD-333E-9A52-95FD-5D098BB73168}"/>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1A9FDAD7-815D-E89B-F8C8-35F4C5F73A50}"/>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A1F751AF-B4CC-1895-5337-CBACBCBB2D2D}"/>
                  </a:ext>
                </a:extLst>
              </p:cNvPr>
              <p:cNvPicPr preferRelativeResize="0"/>
              <p:nvPr/>
            </p:nvPicPr>
            <p:blipFill rotWithShape="1">
              <a:blip r:embed="rId10">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D29BD01A-BF84-65BE-48EB-9FABC40F1C85}"/>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6" name="Google Shape;356;g37264e0fb3e_0_8"/>
          <p:cNvSpPr txBox="1"/>
          <p:nvPr/>
        </p:nvSpPr>
        <p:spPr>
          <a:xfrm>
            <a:off x="-125" y="6589400"/>
            <a:ext cx="12192000" cy="2871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357" name="Google Shape;357;g37264e0fb3e_0_8"/>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21</a:t>
            </a:fld>
            <a:endParaRPr/>
          </a:p>
        </p:txBody>
      </p:sp>
      <p:sp>
        <p:nvSpPr>
          <p:cNvPr id="358" name="Google Shape;358;g37264e0fb3e_0_8"/>
          <p:cNvSpPr txBox="1"/>
          <p:nvPr/>
        </p:nvSpPr>
        <p:spPr>
          <a:xfrm>
            <a:off x="307580" y="1344750"/>
            <a:ext cx="11720700" cy="554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i="0" u="none" strike="noStrike" cap="none">
                <a:solidFill>
                  <a:srgbClr val="000000"/>
                </a:solidFill>
                <a:latin typeface="Times New Roman"/>
                <a:ea typeface="Times New Roman"/>
                <a:cs typeface="Times New Roman"/>
                <a:sym typeface="Times New Roman"/>
              </a:rPr>
              <a:t>Referencias</a:t>
            </a:r>
            <a:endParaRPr sz="3000" b="1" i="0" u="none" strike="noStrike" cap="none">
              <a:solidFill>
                <a:srgbClr val="000000"/>
              </a:solidFill>
              <a:latin typeface="Times New Roman"/>
              <a:ea typeface="Times New Roman"/>
              <a:cs typeface="Times New Roman"/>
              <a:sym typeface="Times New Roman"/>
            </a:endParaRPr>
          </a:p>
        </p:txBody>
      </p:sp>
      <p:sp>
        <p:nvSpPr>
          <p:cNvPr id="364" name="Google Shape;364;g37264e0fb3e_0_8"/>
          <p:cNvSpPr txBox="1"/>
          <p:nvPr/>
        </p:nvSpPr>
        <p:spPr>
          <a:xfrm>
            <a:off x="665922" y="2029725"/>
            <a:ext cx="11070828" cy="1846629"/>
          </a:xfrm>
          <a:prstGeom prst="rect">
            <a:avLst/>
          </a:prstGeom>
          <a:noFill/>
          <a:ln>
            <a:noFill/>
          </a:ln>
        </p:spPr>
        <p:txBody>
          <a:bodyPr spcFirstLastPara="1" wrap="square" lIns="91425" tIns="91425" rIns="91425" bIns="91425" anchor="t" anchorCtr="0">
            <a:spAutoFit/>
          </a:bodyPr>
          <a:lstStyle/>
          <a:p>
            <a:pPr marL="457200" lvl="0" indent="-457200" algn="l" rtl="0">
              <a:lnSpc>
                <a:spcPct val="150000"/>
              </a:lnSpc>
              <a:spcBef>
                <a:spcPts val="0"/>
              </a:spcBef>
              <a:spcAft>
                <a:spcPts val="0"/>
              </a:spcAft>
              <a:buNone/>
            </a:pPr>
            <a:r>
              <a:rPr lang="es-PE" sz="1200" dirty="0" err="1">
                <a:solidFill>
                  <a:schemeClr val="dk1"/>
                </a:solidFill>
                <a:latin typeface="Times New Roman"/>
                <a:ea typeface="Times New Roman"/>
                <a:cs typeface="Times New Roman"/>
                <a:sym typeface="Times New Roman"/>
              </a:rPr>
              <a:t>Bao</a:t>
            </a:r>
            <a:r>
              <a:rPr lang="es-PE" sz="1200" dirty="0">
                <a:solidFill>
                  <a:schemeClr val="dk1"/>
                </a:solidFill>
                <a:latin typeface="Times New Roman"/>
                <a:ea typeface="Times New Roman"/>
                <a:cs typeface="Times New Roman"/>
                <a:sym typeface="Times New Roman"/>
              </a:rPr>
              <a:t>, L., Liu, Z., Miao, R., Chen, Z., Zhang, B., </a:t>
            </a:r>
            <a:r>
              <a:rPr lang="es-PE" sz="1200" dirty="0" err="1">
                <a:solidFill>
                  <a:schemeClr val="dk1"/>
                </a:solidFill>
                <a:latin typeface="Times New Roman"/>
                <a:ea typeface="Times New Roman"/>
                <a:cs typeface="Times New Roman"/>
                <a:sym typeface="Times New Roman"/>
              </a:rPr>
              <a:t>Guo</a:t>
            </a:r>
            <a:r>
              <a:rPr lang="es-PE" sz="1200" dirty="0">
                <a:solidFill>
                  <a:schemeClr val="dk1"/>
                </a:solidFill>
                <a:latin typeface="Times New Roman"/>
                <a:ea typeface="Times New Roman"/>
                <a:cs typeface="Times New Roman"/>
                <a:sym typeface="Times New Roman"/>
              </a:rPr>
              <a:t>, P., &amp; Ma, Y. (2023). </a:t>
            </a:r>
            <a:r>
              <a:rPr lang="es-PE" sz="1200" dirty="0" err="1">
                <a:solidFill>
                  <a:schemeClr val="dk1"/>
                </a:solidFill>
                <a:latin typeface="Times New Roman"/>
                <a:ea typeface="Times New Roman"/>
                <a:cs typeface="Times New Roman"/>
                <a:sym typeface="Times New Roman"/>
              </a:rPr>
              <a:t>Spatiotemporal</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clustering</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analysis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of</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shared</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electric</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vehicles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based</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trajectory</a:t>
            </a:r>
            <a:r>
              <a:rPr lang="es-PE" sz="1200" dirty="0">
                <a:solidFill>
                  <a:schemeClr val="dk1"/>
                </a:solidFill>
                <a:latin typeface="Times New Roman"/>
                <a:ea typeface="Times New Roman"/>
                <a:cs typeface="Times New Roman"/>
                <a:sym typeface="Times New Roman"/>
              </a:rPr>
              <a:t> data </a:t>
            </a:r>
            <a:r>
              <a:rPr lang="es-PE" sz="1200" dirty="0" err="1">
                <a:solidFill>
                  <a:schemeClr val="dk1"/>
                </a:solidFill>
                <a:latin typeface="Times New Roman"/>
                <a:ea typeface="Times New Roman"/>
                <a:cs typeface="Times New Roman"/>
                <a:sym typeface="Times New Roman"/>
              </a:rPr>
              <a:t>for</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sustainable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urban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governance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Journal</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of</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Cleaner</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Production</a:t>
            </a:r>
            <a:r>
              <a:rPr lang="es-PE" sz="1200" dirty="0">
                <a:solidFill>
                  <a:schemeClr val="dk1"/>
                </a:solidFill>
                <a:latin typeface="Times New Roman"/>
                <a:ea typeface="Times New Roman"/>
                <a:cs typeface="Times New Roman"/>
                <a:sym typeface="Times New Roman"/>
              </a:rPr>
              <a:t>, 412, </a:t>
            </a:r>
            <a:r>
              <a:rPr lang="es-PE" sz="1200" dirty="0" err="1">
                <a:solidFill>
                  <a:schemeClr val="dk1"/>
                </a:solidFill>
                <a:latin typeface="Times New Roman"/>
                <a:ea typeface="Times New Roman"/>
                <a:cs typeface="Times New Roman"/>
                <a:sym typeface="Times New Roman"/>
              </a:rPr>
              <a:t>Article</a:t>
            </a:r>
            <a:r>
              <a:rPr lang="es-PE" sz="1200" dirty="0">
                <a:solidFill>
                  <a:schemeClr val="dk1"/>
                </a:solidFill>
                <a:latin typeface="Times New Roman"/>
                <a:ea typeface="Times New Roman"/>
                <a:cs typeface="Times New Roman"/>
                <a:sym typeface="Times New Roman"/>
              </a:rPr>
              <a:t> 137373. </a:t>
            </a:r>
            <a:r>
              <a:rPr lang="es-PE" sz="1200" u="sng" dirty="0">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https://doi.org/10.1016/j.jclepro.2023.137373</a:t>
            </a:r>
            <a:r>
              <a:rPr lang="es-PE"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r>
              <a:rPr lang="es-PE" sz="1200" dirty="0" err="1">
                <a:solidFill>
                  <a:schemeClr val="dk1"/>
                </a:solidFill>
                <a:latin typeface="Times New Roman"/>
                <a:ea typeface="Times New Roman"/>
                <a:cs typeface="Times New Roman"/>
                <a:sym typeface="Times New Roman"/>
              </a:rPr>
              <a:t>Bhattarai</a:t>
            </a:r>
            <a:r>
              <a:rPr lang="es-PE" sz="1200" dirty="0">
                <a:solidFill>
                  <a:schemeClr val="dk1"/>
                </a:solidFill>
                <a:latin typeface="Times New Roman"/>
                <a:ea typeface="Times New Roman"/>
                <a:cs typeface="Times New Roman"/>
                <a:sym typeface="Times New Roman"/>
              </a:rPr>
              <a:t>, S., </a:t>
            </a:r>
            <a:r>
              <a:rPr lang="es-PE" sz="1200" dirty="0" err="1">
                <a:solidFill>
                  <a:schemeClr val="dk1"/>
                </a:solidFill>
                <a:latin typeface="Times New Roman"/>
                <a:ea typeface="Times New Roman"/>
                <a:cs typeface="Times New Roman"/>
                <a:sym typeface="Times New Roman"/>
              </a:rPr>
              <a:t>Golias</a:t>
            </a:r>
            <a:r>
              <a:rPr lang="es-PE" sz="1200" dirty="0">
                <a:solidFill>
                  <a:schemeClr val="dk1"/>
                </a:solidFill>
                <a:latin typeface="Times New Roman"/>
                <a:ea typeface="Times New Roman"/>
                <a:cs typeface="Times New Roman"/>
                <a:sym typeface="Times New Roman"/>
              </a:rPr>
              <a:t>, M. M., Mishra, S., &amp; </a:t>
            </a:r>
            <a:r>
              <a:rPr lang="es-PE" sz="1200" dirty="0" err="1">
                <a:solidFill>
                  <a:schemeClr val="dk1"/>
                </a:solidFill>
                <a:latin typeface="Times New Roman"/>
                <a:ea typeface="Times New Roman"/>
                <a:cs typeface="Times New Roman"/>
                <a:sym typeface="Times New Roman"/>
              </a:rPr>
              <a:t>Talebian</a:t>
            </a:r>
            <a:r>
              <a:rPr lang="es-PE" sz="1200" dirty="0">
                <a:solidFill>
                  <a:schemeClr val="dk1"/>
                </a:solidFill>
                <a:latin typeface="Times New Roman"/>
                <a:ea typeface="Times New Roman"/>
                <a:cs typeface="Times New Roman"/>
                <a:sym typeface="Times New Roman"/>
              </a:rPr>
              <a:t>, A. (2020). Multidimensional </a:t>
            </a:r>
            <a:r>
              <a:rPr lang="es-PE" sz="1200" dirty="0" err="1">
                <a:solidFill>
                  <a:schemeClr val="dk1"/>
                </a:solidFill>
                <a:latin typeface="Times New Roman"/>
                <a:ea typeface="Times New Roman"/>
                <a:cs typeface="Times New Roman"/>
                <a:sym typeface="Times New Roman"/>
              </a:rPr>
              <a:t>resource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allocation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for</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freight</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transportation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project</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planning</a:t>
            </a:r>
            <a:r>
              <a:rPr lang="es-PE" sz="1200" dirty="0">
                <a:solidFill>
                  <a:schemeClr val="dk1"/>
                </a:solidFill>
                <a:latin typeface="Times New Roman"/>
                <a:ea typeface="Times New Roman"/>
                <a:cs typeface="Times New Roman"/>
                <a:sym typeface="Times New Roman"/>
              </a:rPr>
              <a:t> and </a:t>
            </a:r>
            <a:r>
              <a:rPr lang="es-PE" sz="1200" dirty="0" err="1">
                <a:solidFill>
                  <a:schemeClr val="dk1"/>
                </a:solidFill>
                <a:latin typeface="Times New Roman"/>
                <a:ea typeface="Times New Roman"/>
                <a:cs typeface="Times New Roman"/>
                <a:sym typeface="Times New Roman"/>
              </a:rPr>
              <a:t>decision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making</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Transportation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Research</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Part</a:t>
            </a:r>
            <a:r>
              <a:rPr lang="es-PE" sz="1200" dirty="0">
                <a:solidFill>
                  <a:schemeClr val="dk1"/>
                </a:solidFill>
                <a:latin typeface="Times New Roman"/>
                <a:ea typeface="Times New Roman"/>
                <a:cs typeface="Times New Roman"/>
                <a:sym typeface="Times New Roman"/>
              </a:rPr>
              <a:t> A: </a:t>
            </a:r>
            <a:r>
              <a:rPr lang="es-PE" sz="1200" dirty="0" err="1">
                <a:solidFill>
                  <a:schemeClr val="dk1"/>
                </a:solidFill>
                <a:latin typeface="Times New Roman"/>
                <a:ea typeface="Times New Roman"/>
                <a:cs typeface="Times New Roman"/>
                <a:sym typeface="Times New Roman"/>
              </a:rPr>
              <a:t>Policy</a:t>
            </a:r>
            <a:r>
              <a:rPr lang="es-PE" sz="1200" dirty="0">
                <a:solidFill>
                  <a:schemeClr val="dk1"/>
                </a:solidFill>
                <a:latin typeface="Times New Roman"/>
                <a:ea typeface="Times New Roman"/>
                <a:cs typeface="Times New Roman"/>
                <a:sym typeface="Times New Roman"/>
              </a:rPr>
              <a:t> and </a:t>
            </a:r>
            <a:r>
              <a:rPr lang="es-PE" sz="1200" dirty="0" err="1">
                <a:solidFill>
                  <a:schemeClr val="dk1"/>
                </a:solidFill>
                <a:latin typeface="Times New Roman"/>
                <a:ea typeface="Times New Roman"/>
                <a:cs typeface="Times New Roman"/>
                <a:sym typeface="Times New Roman"/>
              </a:rPr>
              <a:t>Practice</a:t>
            </a:r>
            <a:r>
              <a:rPr lang="es-PE" sz="1200" dirty="0">
                <a:solidFill>
                  <a:schemeClr val="dk1"/>
                </a:solidFill>
                <a:latin typeface="Times New Roman"/>
                <a:ea typeface="Times New Roman"/>
                <a:cs typeface="Times New Roman"/>
                <a:sym typeface="Times New Roman"/>
              </a:rPr>
              <a:t>, 137, 95–110. </a:t>
            </a:r>
            <a:r>
              <a:rPr lang="es-PE" sz="1200" u="sng" dirty="0">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https://doi.org/10.1016/j.tra.2020.04.017</a:t>
            </a:r>
            <a:r>
              <a:rPr lang="es-PE"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r>
              <a:rPr lang="es-PE" sz="1200" dirty="0">
                <a:solidFill>
                  <a:schemeClr val="dk1"/>
                </a:solidFill>
                <a:latin typeface="Times New Roman"/>
                <a:ea typeface="Times New Roman"/>
                <a:cs typeface="Times New Roman"/>
                <a:sym typeface="Times New Roman"/>
              </a:rPr>
              <a:t>Deng, D. (2020). </a:t>
            </a:r>
            <a:r>
              <a:rPr lang="es-PE" sz="1200" dirty="0" err="1">
                <a:solidFill>
                  <a:schemeClr val="dk1"/>
                </a:solidFill>
                <a:latin typeface="Times New Roman"/>
                <a:ea typeface="Times New Roman"/>
                <a:cs typeface="Times New Roman"/>
                <a:sym typeface="Times New Roman"/>
              </a:rPr>
              <a:t>Research</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anomaly</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detection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method</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based</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on</a:t>
            </a:r>
            <a:r>
              <a:rPr lang="es-PE" sz="1200" dirty="0">
                <a:solidFill>
                  <a:schemeClr val="dk1"/>
                </a:solidFill>
                <a:latin typeface="Times New Roman"/>
                <a:ea typeface="Times New Roman"/>
                <a:cs typeface="Times New Roman"/>
                <a:sym typeface="Times New Roman"/>
              </a:rPr>
              <a:t> DBSCAN </a:t>
            </a:r>
            <a:r>
              <a:rPr lang="es-PE" sz="1200" dirty="0" err="1">
                <a:solidFill>
                  <a:schemeClr val="dk1"/>
                </a:solidFill>
                <a:latin typeface="Times New Roman"/>
                <a:ea typeface="Times New Roman"/>
                <a:cs typeface="Times New Roman"/>
                <a:sym typeface="Times New Roman"/>
              </a:rPr>
              <a:t>clustering</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algorithm</a:t>
            </a:r>
            <a:r>
              <a:rPr lang="es-PE" sz="1200" dirty="0">
                <a:solidFill>
                  <a:schemeClr val="dk1"/>
                </a:solidFill>
                <a:latin typeface="Times New Roman"/>
                <a:ea typeface="Times New Roman"/>
                <a:cs typeface="Times New Roman"/>
                <a:sym typeface="Times New Roman"/>
              </a:rPr>
              <a:t>. En 2020 5th International </a:t>
            </a:r>
            <a:r>
              <a:rPr lang="es-PE" sz="1200" dirty="0" err="1">
                <a:solidFill>
                  <a:schemeClr val="dk1"/>
                </a:solidFill>
                <a:latin typeface="Times New Roman"/>
                <a:ea typeface="Times New Roman"/>
                <a:cs typeface="Times New Roman"/>
                <a:sym typeface="Times New Roman"/>
              </a:rPr>
              <a:t>Conference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Information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Science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Computer</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Technology</a:t>
            </a:r>
            <a:r>
              <a:rPr lang="es-PE" sz="1200" dirty="0">
                <a:solidFill>
                  <a:schemeClr val="dk1"/>
                </a:solidFill>
                <a:latin typeface="Times New Roman"/>
                <a:ea typeface="Times New Roman"/>
                <a:cs typeface="Times New Roman"/>
                <a:sym typeface="Times New Roman"/>
              </a:rPr>
              <a:t> and </a:t>
            </a:r>
            <a:r>
              <a:rPr lang="es-PE" sz="1200" dirty="0" err="1">
                <a:solidFill>
                  <a:schemeClr val="dk1"/>
                </a:solidFill>
                <a:latin typeface="Times New Roman"/>
                <a:ea typeface="Times New Roman"/>
                <a:cs typeface="Times New Roman"/>
                <a:sym typeface="Times New Roman"/>
              </a:rPr>
              <a:t>Transportation</a:t>
            </a:r>
            <a:r>
              <a:rPr lang="es-PE" sz="1200" dirty="0">
                <a:solidFill>
                  <a:schemeClr val="dk1"/>
                </a:solidFill>
                <a:latin typeface="Times New Roman"/>
                <a:ea typeface="Times New Roman"/>
                <a:cs typeface="Times New Roman"/>
                <a:sym typeface="Times New Roman"/>
              </a:rPr>
              <a:t> (ISCTT) (pp. 439–442). IEEE. </a:t>
            </a:r>
            <a:r>
              <a:rPr lang="es-PE" sz="1200" u="sng" dirty="0">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https://doi.org/10.1109/ISCTT51595.2020.00083</a:t>
            </a:r>
            <a:r>
              <a:rPr lang="es-PE" sz="1200" dirty="0">
                <a:solidFill>
                  <a:schemeClr val="dk1"/>
                </a:solidFill>
                <a:latin typeface="Times New Roman"/>
                <a:ea typeface="Times New Roman"/>
                <a:cs typeface="Times New Roman"/>
                <a:sym typeface="Times New Roman"/>
              </a:rPr>
              <a:t> </a:t>
            </a:r>
            <a:endParaRPr dirty="0"/>
          </a:p>
        </p:txBody>
      </p:sp>
      <p:sp>
        <p:nvSpPr>
          <p:cNvPr id="365" name="Google Shape;365;g37264e0fb3e_0_8"/>
          <p:cNvSpPr txBox="1"/>
          <p:nvPr/>
        </p:nvSpPr>
        <p:spPr>
          <a:xfrm>
            <a:off x="665922" y="3985174"/>
            <a:ext cx="11367978" cy="2123628"/>
          </a:xfrm>
          <a:prstGeom prst="rect">
            <a:avLst/>
          </a:prstGeom>
          <a:noFill/>
          <a:ln>
            <a:noFill/>
          </a:ln>
        </p:spPr>
        <p:txBody>
          <a:bodyPr spcFirstLastPara="1" wrap="square" lIns="91425" tIns="91425" rIns="91425" bIns="91425" anchor="t" anchorCtr="0">
            <a:spAutoFit/>
          </a:bodyPr>
          <a:lstStyle/>
          <a:p>
            <a:pPr marL="457200" lvl="0" indent="-457200" algn="l" rtl="0">
              <a:lnSpc>
                <a:spcPct val="150000"/>
              </a:lnSpc>
              <a:spcBef>
                <a:spcPts val="0"/>
              </a:spcBef>
              <a:spcAft>
                <a:spcPts val="0"/>
              </a:spcAft>
              <a:buNone/>
            </a:pPr>
            <a:r>
              <a:rPr lang="es-PE" sz="1200" dirty="0">
                <a:solidFill>
                  <a:schemeClr val="dk1"/>
                </a:solidFill>
                <a:latin typeface="Times New Roman"/>
                <a:ea typeface="Times New Roman"/>
                <a:cs typeface="Times New Roman"/>
                <a:sym typeface="Times New Roman"/>
              </a:rPr>
              <a:t>Díaz-Pulido, J. (2024). </a:t>
            </a:r>
            <a:r>
              <a:rPr lang="es-PE" sz="1200" dirty="0" err="1">
                <a:solidFill>
                  <a:schemeClr val="dk1"/>
                </a:solidFill>
                <a:latin typeface="Times New Roman"/>
                <a:ea typeface="Times New Roman"/>
                <a:cs typeface="Times New Roman"/>
                <a:sym typeface="Times New Roman"/>
              </a:rPr>
              <a:t>Application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of</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spatial</a:t>
            </a:r>
            <a:r>
              <a:rPr lang="es-PE" sz="1200" dirty="0">
                <a:solidFill>
                  <a:schemeClr val="dk1"/>
                </a:solidFill>
                <a:latin typeface="Times New Roman"/>
                <a:ea typeface="Times New Roman"/>
                <a:cs typeface="Times New Roman"/>
                <a:sym typeface="Times New Roman"/>
              </a:rPr>
              <a:t> data </a:t>
            </a:r>
            <a:r>
              <a:rPr lang="es-PE" sz="1200" dirty="0" err="1">
                <a:solidFill>
                  <a:schemeClr val="dk1"/>
                </a:solidFill>
                <a:latin typeface="Times New Roman"/>
                <a:ea typeface="Times New Roman"/>
                <a:cs typeface="Times New Roman"/>
                <a:sym typeface="Times New Roman"/>
              </a:rPr>
              <a:t>mining</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based</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aggregation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for</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the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analysis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of</a:t>
            </a:r>
            <a:r>
              <a:rPr lang="es-PE" sz="1200" dirty="0">
                <a:solidFill>
                  <a:schemeClr val="dk1"/>
                </a:solidFill>
                <a:latin typeface="Times New Roman"/>
                <a:ea typeface="Times New Roman"/>
                <a:cs typeface="Times New Roman"/>
                <a:sym typeface="Times New Roman"/>
              </a:rPr>
              <a:t> vehicular </a:t>
            </a:r>
            <a:r>
              <a:rPr lang="es-PE" sz="1200" dirty="0" err="1">
                <a:solidFill>
                  <a:schemeClr val="dk1"/>
                </a:solidFill>
                <a:latin typeface="Times New Roman"/>
                <a:ea typeface="Times New Roman"/>
                <a:cs typeface="Times New Roman"/>
                <a:sym typeface="Times New Roman"/>
              </a:rPr>
              <a:t>congestion</a:t>
            </a:r>
            <a:r>
              <a:rPr lang="es-PE" sz="1200" dirty="0">
                <a:solidFill>
                  <a:schemeClr val="dk1"/>
                </a:solidFill>
                <a:latin typeface="Times New Roman"/>
                <a:ea typeface="Times New Roman"/>
                <a:cs typeface="Times New Roman"/>
                <a:sym typeface="Times New Roman"/>
              </a:rPr>
              <a:t> in </a:t>
            </a:r>
            <a:r>
              <a:rPr lang="es-PE" sz="1200" dirty="0" err="1">
                <a:solidFill>
                  <a:schemeClr val="dk1"/>
                </a:solidFill>
                <a:latin typeface="Times New Roman"/>
                <a:ea typeface="Times New Roman"/>
                <a:cs typeface="Times New Roman"/>
                <a:sym typeface="Times New Roman"/>
              </a:rPr>
              <a:t>critical</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points</a:t>
            </a:r>
            <a:r>
              <a:rPr lang="es-PE" sz="1200" dirty="0">
                <a:solidFill>
                  <a:schemeClr val="dk1"/>
                </a:solidFill>
                <a:latin typeface="Times New Roman"/>
                <a:ea typeface="Times New Roman"/>
                <a:cs typeface="Times New Roman"/>
                <a:sym typeface="Times New Roman"/>
              </a:rPr>
              <a:t>. Revista Ciencia y Tecnología, 20(2), 11-37. </a:t>
            </a:r>
            <a:r>
              <a:rPr lang="es-PE" sz="1200" u="sng" dirty="0">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http://dx.doi.org/10.17268/rev.cyt.2024.02.01</a:t>
            </a:r>
            <a:r>
              <a:rPr lang="es-PE"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r>
              <a:rPr lang="es-PE" sz="1200" dirty="0">
                <a:solidFill>
                  <a:schemeClr val="dk1"/>
                </a:solidFill>
                <a:latin typeface="Times New Roman"/>
                <a:ea typeface="Times New Roman"/>
                <a:cs typeface="Times New Roman"/>
                <a:sym typeface="Times New Roman"/>
              </a:rPr>
              <a:t>Ester, M., </a:t>
            </a:r>
            <a:r>
              <a:rPr lang="es-PE" sz="1200" dirty="0" err="1">
                <a:solidFill>
                  <a:schemeClr val="dk1"/>
                </a:solidFill>
                <a:latin typeface="Times New Roman"/>
                <a:ea typeface="Times New Roman"/>
                <a:cs typeface="Times New Roman"/>
                <a:sym typeface="Times New Roman"/>
              </a:rPr>
              <a:t>Kriegel</a:t>
            </a:r>
            <a:r>
              <a:rPr lang="es-PE" sz="1200" dirty="0">
                <a:solidFill>
                  <a:schemeClr val="dk1"/>
                </a:solidFill>
                <a:latin typeface="Times New Roman"/>
                <a:ea typeface="Times New Roman"/>
                <a:cs typeface="Times New Roman"/>
                <a:sym typeface="Times New Roman"/>
              </a:rPr>
              <a:t>, H. P., Sander, J., &amp; </a:t>
            </a:r>
            <a:r>
              <a:rPr lang="es-PE" sz="1200" dirty="0" err="1">
                <a:solidFill>
                  <a:schemeClr val="dk1"/>
                </a:solidFill>
                <a:latin typeface="Times New Roman"/>
                <a:ea typeface="Times New Roman"/>
                <a:cs typeface="Times New Roman"/>
                <a:sym typeface="Times New Roman"/>
              </a:rPr>
              <a:t>Xu</a:t>
            </a:r>
            <a:r>
              <a:rPr lang="es-PE" sz="1200" dirty="0">
                <a:solidFill>
                  <a:schemeClr val="dk1"/>
                </a:solidFill>
                <a:latin typeface="Times New Roman"/>
                <a:ea typeface="Times New Roman"/>
                <a:cs typeface="Times New Roman"/>
                <a:sym typeface="Times New Roman"/>
              </a:rPr>
              <a:t>, X. (1996). A </a:t>
            </a:r>
            <a:r>
              <a:rPr lang="es-PE" sz="1200" dirty="0" err="1">
                <a:solidFill>
                  <a:schemeClr val="dk1"/>
                </a:solidFill>
                <a:latin typeface="Times New Roman"/>
                <a:ea typeface="Times New Roman"/>
                <a:cs typeface="Times New Roman"/>
                <a:sym typeface="Times New Roman"/>
              </a:rPr>
              <a:t>density-based</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algorithm</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for</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discovering</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clusters</a:t>
            </a:r>
            <a:r>
              <a:rPr lang="es-PE" sz="1200" dirty="0">
                <a:solidFill>
                  <a:schemeClr val="dk1"/>
                </a:solidFill>
                <a:latin typeface="Times New Roman"/>
                <a:ea typeface="Times New Roman"/>
                <a:cs typeface="Times New Roman"/>
                <a:sym typeface="Times New Roman"/>
              </a:rPr>
              <a:t> in </a:t>
            </a:r>
            <a:r>
              <a:rPr lang="es-PE" sz="1200" dirty="0" err="1">
                <a:solidFill>
                  <a:schemeClr val="dk1"/>
                </a:solidFill>
                <a:latin typeface="Times New Roman"/>
                <a:ea typeface="Times New Roman"/>
                <a:cs typeface="Times New Roman"/>
                <a:sym typeface="Times New Roman"/>
              </a:rPr>
              <a:t>large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spatial</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databases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with</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noise</a:t>
            </a:r>
            <a:r>
              <a:rPr lang="es-PE" sz="1200" dirty="0">
                <a:solidFill>
                  <a:schemeClr val="dk1"/>
                </a:solidFill>
                <a:latin typeface="Times New Roman"/>
                <a:ea typeface="Times New Roman"/>
                <a:cs typeface="Times New Roman"/>
                <a:sym typeface="Times New Roman"/>
              </a:rPr>
              <a:t>. En E. </a:t>
            </a:r>
            <a:r>
              <a:rPr lang="es-PE" sz="1200" dirty="0" err="1">
                <a:solidFill>
                  <a:schemeClr val="dk1"/>
                </a:solidFill>
                <a:latin typeface="Times New Roman"/>
                <a:ea typeface="Times New Roman"/>
                <a:cs typeface="Times New Roman"/>
                <a:sym typeface="Times New Roman"/>
              </a:rPr>
              <a:t>Simoudis</a:t>
            </a:r>
            <a:r>
              <a:rPr lang="es-PE" sz="1200" dirty="0">
                <a:solidFill>
                  <a:schemeClr val="dk1"/>
                </a:solidFill>
                <a:latin typeface="Times New Roman"/>
                <a:ea typeface="Times New Roman"/>
                <a:cs typeface="Times New Roman"/>
                <a:sym typeface="Times New Roman"/>
              </a:rPr>
              <a:t>, J. Han, &amp; U. M. </a:t>
            </a:r>
            <a:r>
              <a:rPr lang="es-PE" sz="1200" dirty="0" err="1">
                <a:solidFill>
                  <a:schemeClr val="dk1"/>
                </a:solidFill>
                <a:latin typeface="Times New Roman"/>
                <a:ea typeface="Times New Roman"/>
                <a:cs typeface="Times New Roman"/>
                <a:sym typeface="Times New Roman"/>
              </a:rPr>
              <a:t>Fayyad</a:t>
            </a:r>
            <a:r>
              <a:rPr lang="es-PE" sz="1200" dirty="0">
                <a:solidFill>
                  <a:schemeClr val="dk1"/>
                </a:solidFill>
                <a:latin typeface="Times New Roman"/>
                <a:ea typeface="Times New Roman"/>
                <a:cs typeface="Times New Roman"/>
                <a:sym typeface="Times New Roman"/>
              </a:rPr>
              <a:t> (Eds.), </a:t>
            </a:r>
            <a:r>
              <a:rPr lang="es-PE" sz="1200" dirty="0" err="1">
                <a:solidFill>
                  <a:schemeClr val="dk1"/>
                </a:solidFill>
                <a:latin typeface="Times New Roman"/>
                <a:ea typeface="Times New Roman"/>
                <a:cs typeface="Times New Roman"/>
                <a:sym typeface="Times New Roman"/>
              </a:rPr>
              <a:t>Proceedings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of</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the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Second</a:t>
            </a:r>
            <a:r>
              <a:rPr lang="es-PE" sz="1200" dirty="0">
                <a:solidFill>
                  <a:schemeClr val="dk1"/>
                </a:solidFill>
                <a:latin typeface="Times New Roman"/>
                <a:ea typeface="Times New Roman"/>
                <a:cs typeface="Times New Roman"/>
                <a:sym typeface="Times New Roman"/>
              </a:rPr>
              <a:t> International </a:t>
            </a:r>
            <a:r>
              <a:rPr lang="es-PE" sz="1200" dirty="0" err="1">
                <a:solidFill>
                  <a:schemeClr val="dk1"/>
                </a:solidFill>
                <a:latin typeface="Times New Roman"/>
                <a:ea typeface="Times New Roman"/>
                <a:cs typeface="Times New Roman"/>
                <a:sym typeface="Times New Roman"/>
              </a:rPr>
              <a:t>Conference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Knowledge</a:t>
            </a:r>
            <a:r>
              <a:rPr lang="es-PE" sz="1200" dirty="0">
                <a:solidFill>
                  <a:schemeClr val="dk1"/>
                </a:solidFill>
                <a:latin typeface="Times New Roman"/>
                <a:ea typeface="Times New Roman"/>
                <a:cs typeface="Times New Roman"/>
                <a:sym typeface="Times New Roman"/>
              </a:rPr>
              <a:t> Discovery and Data </a:t>
            </a:r>
            <a:r>
              <a:rPr lang="es-PE" sz="1200" dirty="0" err="1">
                <a:solidFill>
                  <a:schemeClr val="dk1"/>
                </a:solidFill>
                <a:latin typeface="Times New Roman"/>
                <a:ea typeface="Times New Roman"/>
                <a:cs typeface="Times New Roman"/>
                <a:sym typeface="Times New Roman"/>
              </a:rPr>
              <a:t>Mining</a:t>
            </a:r>
            <a:r>
              <a:rPr lang="es-PE" sz="1200" dirty="0">
                <a:solidFill>
                  <a:schemeClr val="dk1"/>
                </a:solidFill>
                <a:latin typeface="Times New Roman"/>
                <a:ea typeface="Times New Roman"/>
                <a:cs typeface="Times New Roman"/>
                <a:sym typeface="Times New Roman"/>
              </a:rPr>
              <a:t> (KDD'96) (pp. 226–231). AAAI </a:t>
            </a:r>
            <a:r>
              <a:rPr lang="es-PE" sz="1200" dirty="0" err="1">
                <a:solidFill>
                  <a:schemeClr val="dk1"/>
                </a:solidFill>
                <a:latin typeface="Times New Roman"/>
                <a:ea typeface="Times New Roman"/>
                <a:cs typeface="Times New Roman"/>
                <a:sym typeface="Times New Roman"/>
              </a:rPr>
              <a:t>Press</a:t>
            </a:r>
            <a:r>
              <a:rPr lang="es-PE" sz="1200" dirty="0">
                <a:solidFill>
                  <a:schemeClr val="dk1"/>
                </a:solidFill>
                <a:latin typeface="Times New Roman"/>
                <a:ea typeface="Times New Roman"/>
                <a:cs typeface="Times New Roman"/>
                <a:sym typeface="Times New Roman"/>
              </a:rPr>
              <a:t>. </a:t>
            </a:r>
            <a:r>
              <a:rPr lang="es-PE" sz="1200" u="sng" dirty="0">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https://dl.acm.org/doi/10.5555/3001460.3001507</a:t>
            </a:r>
            <a:r>
              <a:rPr lang="es-PE"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r>
              <a:rPr lang="es-PE" sz="1200" dirty="0" err="1">
                <a:solidFill>
                  <a:schemeClr val="dk1"/>
                </a:solidFill>
                <a:latin typeface="Times New Roman"/>
                <a:ea typeface="Times New Roman"/>
                <a:cs typeface="Times New Roman"/>
                <a:sym typeface="Times New Roman"/>
              </a:rPr>
              <a:t>Kriegel</a:t>
            </a:r>
            <a:r>
              <a:rPr lang="es-PE" sz="1200" dirty="0">
                <a:solidFill>
                  <a:schemeClr val="dk1"/>
                </a:solidFill>
                <a:latin typeface="Times New Roman"/>
                <a:ea typeface="Times New Roman"/>
                <a:cs typeface="Times New Roman"/>
                <a:sym typeface="Times New Roman"/>
              </a:rPr>
              <a:t>, H. P., </a:t>
            </a:r>
            <a:r>
              <a:rPr lang="es-PE" sz="1200" dirty="0" err="1">
                <a:solidFill>
                  <a:schemeClr val="dk1"/>
                </a:solidFill>
                <a:latin typeface="Times New Roman"/>
                <a:ea typeface="Times New Roman"/>
                <a:cs typeface="Times New Roman"/>
                <a:sym typeface="Times New Roman"/>
              </a:rPr>
              <a:t>Kröger</a:t>
            </a:r>
            <a:r>
              <a:rPr lang="es-PE" sz="1200" dirty="0">
                <a:solidFill>
                  <a:schemeClr val="dk1"/>
                </a:solidFill>
                <a:latin typeface="Times New Roman"/>
                <a:ea typeface="Times New Roman"/>
                <a:cs typeface="Times New Roman"/>
                <a:sym typeface="Times New Roman"/>
              </a:rPr>
              <a:t>, P., &amp; </a:t>
            </a:r>
            <a:r>
              <a:rPr lang="es-PE" sz="1200" dirty="0" err="1">
                <a:solidFill>
                  <a:schemeClr val="dk1"/>
                </a:solidFill>
                <a:latin typeface="Times New Roman"/>
                <a:ea typeface="Times New Roman"/>
                <a:cs typeface="Times New Roman"/>
                <a:sym typeface="Times New Roman"/>
              </a:rPr>
              <a:t>Zimek</a:t>
            </a:r>
            <a:r>
              <a:rPr lang="es-PE" sz="1200" dirty="0">
                <a:solidFill>
                  <a:schemeClr val="dk1"/>
                </a:solidFill>
                <a:latin typeface="Times New Roman"/>
                <a:ea typeface="Times New Roman"/>
                <a:cs typeface="Times New Roman"/>
                <a:sym typeface="Times New Roman"/>
              </a:rPr>
              <a:t>, A. (2009). </a:t>
            </a:r>
            <a:r>
              <a:rPr lang="es-PE" sz="1200" dirty="0" err="1">
                <a:solidFill>
                  <a:schemeClr val="dk1"/>
                </a:solidFill>
                <a:latin typeface="Times New Roman"/>
                <a:ea typeface="Times New Roman"/>
                <a:cs typeface="Times New Roman"/>
                <a:sym typeface="Times New Roman"/>
              </a:rPr>
              <a:t>Clustering</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high</a:t>
            </a:r>
            <a:r>
              <a:rPr lang="es-PE" sz="1200" dirty="0">
                <a:solidFill>
                  <a:schemeClr val="dk1"/>
                </a:solidFill>
                <a:latin typeface="Times New Roman"/>
                <a:ea typeface="Times New Roman"/>
                <a:cs typeface="Times New Roman"/>
                <a:sym typeface="Times New Roman"/>
              </a:rPr>
              <a:t>-dimensional data: A </a:t>
            </a:r>
            <a:r>
              <a:rPr lang="es-PE" sz="1200" dirty="0" err="1">
                <a:solidFill>
                  <a:schemeClr val="dk1"/>
                </a:solidFill>
                <a:latin typeface="Times New Roman"/>
                <a:ea typeface="Times New Roman"/>
                <a:cs typeface="Times New Roman"/>
                <a:sym typeface="Times New Roman"/>
              </a:rPr>
              <a:t>survey</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subspace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clustering</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pattern-based</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clustering</a:t>
            </a:r>
            <a:r>
              <a:rPr lang="es-PE" sz="1200" dirty="0">
                <a:solidFill>
                  <a:schemeClr val="dk1"/>
                </a:solidFill>
                <a:latin typeface="Times New Roman"/>
                <a:ea typeface="Times New Roman"/>
                <a:cs typeface="Times New Roman"/>
                <a:sym typeface="Times New Roman"/>
              </a:rPr>
              <a:t>, and </a:t>
            </a:r>
            <a:r>
              <a:rPr lang="es-PE" sz="1200" dirty="0" err="1">
                <a:solidFill>
                  <a:schemeClr val="dk1"/>
                </a:solidFill>
                <a:latin typeface="Times New Roman"/>
                <a:ea typeface="Times New Roman"/>
                <a:cs typeface="Times New Roman"/>
                <a:sym typeface="Times New Roman"/>
              </a:rPr>
              <a:t>correlation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clustering</a:t>
            </a:r>
            <a:r>
              <a:rPr lang="es-PE" sz="1200" dirty="0">
                <a:solidFill>
                  <a:schemeClr val="dk1"/>
                </a:solidFill>
                <a:latin typeface="Times New Roman"/>
                <a:ea typeface="Times New Roman"/>
                <a:cs typeface="Times New Roman"/>
                <a:sym typeface="Times New Roman"/>
              </a:rPr>
              <a:t>. ACM </a:t>
            </a:r>
            <a:r>
              <a:rPr lang="es-PE" sz="1200" dirty="0" err="1">
                <a:solidFill>
                  <a:schemeClr val="dk1"/>
                </a:solidFill>
                <a:latin typeface="Times New Roman"/>
                <a:ea typeface="Times New Roman"/>
                <a:cs typeface="Times New Roman"/>
                <a:sym typeface="Times New Roman"/>
              </a:rPr>
              <a:t>Transactions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Knowledge</a:t>
            </a:r>
            <a:r>
              <a:rPr lang="es-PE" sz="1200" dirty="0">
                <a:solidFill>
                  <a:schemeClr val="dk1"/>
                </a:solidFill>
                <a:latin typeface="Times New Roman"/>
                <a:ea typeface="Times New Roman"/>
                <a:cs typeface="Times New Roman"/>
                <a:sym typeface="Times New Roman"/>
              </a:rPr>
              <a:t> Discovery </a:t>
            </a:r>
            <a:r>
              <a:rPr lang="es-PE" sz="1200" dirty="0" err="1">
                <a:solidFill>
                  <a:schemeClr val="dk1"/>
                </a:solidFill>
                <a:latin typeface="Times New Roman"/>
                <a:ea typeface="Times New Roman"/>
                <a:cs typeface="Times New Roman"/>
                <a:sym typeface="Times New Roman"/>
              </a:rPr>
              <a:t>from</a:t>
            </a:r>
            <a:r>
              <a:rPr lang="es-PE" sz="1200" dirty="0">
                <a:solidFill>
                  <a:schemeClr val="dk1"/>
                </a:solidFill>
                <a:latin typeface="Times New Roman"/>
                <a:ea typeface="Times New Roman"/>
                <a:cs typeface="Times New Roman"/>
                <a:sym typeface="Times New Roman"/>
              </a:rPr>
              <a:t> Data, 3(1), 1–58. </a:t>
            </a:r>
            <a:r>
              <a:rPr lang="es-PE" sz="1200" u="sng" dirty="0">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https://doi.org/10.1145/1497577.1497578</a:t>
            </a:r>
            <a:r>
              <a:rPr lang="es-PE" sz="1200" dirty="0">
                <a:solidFill>
                  <a:schemeClr val="dk1"/>
                </a:solidFill>
                <a:latin typeface="Times New Roman"/>
                <a:ea typeface="Times New Roman"/>
                <a:cs typeface="Times New Roman"/>
                <a:sym typeface="Times New Roman"/>
              </a:rPr>
              <a:t> </a:t>
            </a:r>
            <a:endParaRPr dirty="0"/>
          </a:p>
        </p:txBody>
      </p:sp>
      <p:pic>
        <p:nvPicPr>
          <p:cNvPr id="2" name="Google Shape;46;p1">
            <a:extLst>
              <a:ext uri="{FF2B5EF4-FFF2-40B4-BE49-F238E27FC236}">
                <a16:creationId xmlns:a16="http://schemas.microsoft.com/office/drawing/2014/main" id="{48A4D47F-D7E5-C295-31CC-5E8C30976DDB}"/>
              </a:ext>
            </a:extLst>
          </p:cNvPr>
          <p:cNvPicPr preferRelativeResize="0"/>
          <p:nvPr/>
        </p:nvPicPr>
        <p:blipFill rotWithShape="1">
          <a:blip r:embed="rId9">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0E69AB4E-A5F4-AD61-E063-3FA524DDB1D1}"/>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7DAF1AC5-B1CC-7CDE-C402-233C4BFFB3F6}"/>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3DA1BF57-3A48-A3E7-D2FB-F535DD5C793E}"/>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957922F6-200F-8B3C-2CAC-CC62EEF0BFF2}"/>
                  </a:ext>
                </a:extLst>
              </p:cNvPr>
              <p:cNvPicPr preferRelativeResize="0"/>
              <p:nvPr/>
            </p:nvPicPr>
            <p:blipFill rotWithShape="1">
              <a:blip r:embed="rId10">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9A43BE1F-F117-FA73-AB56-BE4A2673688B}"/>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1" name="Google Shape;371;g37264e0fb3e_0_27"/>
          <p:cNvSpPr txBox="1"/>
          <p:nvPr/>
        </p:nvSpPr>
        <p:spPr>
          <a:xfrm>
            <a:off x="-125" y="6589400"/>
            <a:ext cx="12192000" cy="2871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400"/>
              <a:buFont typeface="Trebuchet MS"/>
              <a:buNone/>
            </a:pPr>
            <a:r>
              <a:rPr lang="es-PE" sz="1200" b="1" i="0" u="none" strike="noStrike" cap="none">
                <a:solidFill>
                  <a:schemeClr val="lt1"/>
                </a:solidFill>
                <a:latin typeface="Trebuchet MS"/>
                <a:ea typeface="Trebuchet MS"/>
                <a:cs typeface="Trebuchet MS"/>
                <a:sym typeface="Trebuchet MS"/>
              </a:rPr>
              <a:t>Universidad Nacional de Cañete – UNDC 2025. Todos los derechos reservados</a:t>
            </a:r>
            <a:endParaRPr sz="1200" b="0" i="0" u="none" strike="noStrike" cap="none">
              <a:solidFill>
                <a:schemeClr val="lt1"/>
              </a:solidFill>
              <a:latin typeface="Arial Black"/>
              <a:ea typeface="Arial Black"/>
              <a:cs typeface="Arial Black"/>
              <a:sym typeface="Arial Black"/>
            </a:endParaRPr>
          </a:p>
        </p:txBody>
      </p:sp>
      <p:sp>
        <p:nvSpPr>
          <p:cNvPr id="372" name="Google Shape;372;g37264e0fb3e_0_27"/>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300"/>
              <a:buNone/>
            </a:pPr>
            <a:fld id="{00000000-1234-1234-1234-123412341234}" type="slidenum">
              <a:rPr lang="es-PE"/>
              <a:t>22</a:t>
            </a:fld>
            <a:endParaRPr/>
          </a:p>
        </p:txBody>
      </p:sp>
      <p:sp>
        <p:nvSpPr>
          <p:cNvPr id="373" name="Google Shape;373;g37264e0fb3e_0_27"/>
          <p:cNvSpPr txBox="1"/>
          <p:nvPr/>
        </p:nvSpPr>
        <p:spPr>
          <a:xfrm>
            <a:off x="307580" y="1344750"/>
            <a:ext cx="11720700" cy="554100"/>
          </a:xfrm>
          <a:prstGeom prst="rect">
            <a:avLst/>
          </a:prstGeom>
          <a:noFill/>
          <a:ln>
            <a:noFill/>
          </a:ln>
        </p:spPr>
        <p:txBody>
          <a:bodyPr spcFirstLastPara="1" wrap="square" lIns="91425" tIns="45700" rIns="91425" bIns="45700" anchor="t" anchorCtr="0">
            <a:spAutoFit/>
          </a:bodyPr>
          <a:lstStyle/>
          <a:p>
            <a:pPr marL="180340" marR="0" lvl="0" indent="0" algn="just" rtl="0">
              <a:lnSpc>
                <a:spcPct val="115000"/>
              </a:lnSpc>
              <a:spcBef>
                <a:spcPts val="0"/>
              </a:spcBef>
              <a:spcAft>
                <a:spcPts val="0"/>
              </a:spcAft>
              <a:buClr>
                <a:srgbClr val="000000"/>
              </a:buClr>
              <a:buSzPts val="3000"/>
              <a:buFont typeface="Arial"/>
              <a:buNone/>
            </a:pPr>
            <a:r>
              <a:rPr lang="es-PE" sz="3000" b="1" i="0" u="none" strike="noStrike" cap="none">
                <a:solidFill>
                  <a:srgbClr val="000000"/>
                </a:solidFill>
                <a:latin typeface="Times New Roman"/>
                <a:ea typeface="Times New Roman"/>
                <a:cs typeface="Times New Roman"/>
                <a:sym typeface="Times New Roman"/>
              </a:rPr>
              <a:t>Referencias</a:t>
            </a:r>
            <a:endParaRPr sz="3000" b="1" i="0" u="none" strike="noStrike" cap="none">
              <a:solidFill>
                <a:srgbClr val="000000"/>
              </a:solidFill>
              <a:latin typeface="Times New Roman"/>
              <a:ea typeface="Times New Roman"/>
              <a:cs typeface="Times New Roman"/>
              <a:sym typeface="Times New Roman"/>
            </a:endParaRPr>
          </a:p>
        </p:txBody>
      </p:sp>
      <p:sp>
        <p:nvSpPr>
          <p:cNvPr id="379" name="Google Shape;379;g37264e0fb3e_0_27"/>
          <p:cNvSpPr txBox="1"/>
          <p:nvPr/>
        </p:nvSpPr>
        <p:spPr>
          <a:xfrm>
            <a:off x="641212" y="1922171"/>
            <a:ext cx="11434963" cy="1846629"/>
          </a:xfrm>
          <a:prstGeom prst="rect">
            <a:avLst/>
          </a:prstGeom>
          <a:noFill/>
          <a:ln>
            <a:noFill/>
          </a:ln>
        </p:spPr>
        <p:txBody>
          <a:bodyPr spcFirstLastPara="1" wrap="square" lIns="91425" tIns="91425" rIns="91425" bIns="91425" anchor="t" anchorCtr="0">
            <a:spAutoFit/>
          </a:bodyPr>
          <a:lstStyle/>
          <a:p>
            <a:pPr marL="457200" lvl="0" indent="-457200" algn="l" rtl="0">
              <a:lnSpc>
                <a:spcPct val="150000"/>
              </a:lnSpc>
              <a:spcBef>
                <a:spcPts val="0"/>
              </a:spcBef>
              <a:spcAft>
                <a:spcPts val="0"/>
              </a:spcAft>
              <a:buNone/>
            </a:pPr>
            <a:r>
              <a:rPr lang="es-PE" sz="1200" dirty="0">
                <a:solidFill>
                  <a:schemeClr val="dk1"/>
                </a:solidFill>
                <a:latin typeface="Times New Roman"/>
                <a:ea typeface="Times New Roman"/>
                <a:cs typeface="Times New Roman"/>
                <a:sym typeface="Times New Roman"/>
              </a:rPr>
              <a:t>Montero </a:t>
            </a:r>
            <a:r>
              <a:rPr lang="es-PE" sz="1200" dirty="0" err="1">
                <a:solidFill>
                  <a:schemeClr val="dk1"/>
                </a:solidFill>
                <a:latin typeface="Times New Roman"/>
                <a:ea typeface="Times New Roman"/>
                <a:cs typeface="Times New Roman"/>
                <a:sym typeface="Times New Roman"/>
              </a:rPr>
              <a:t>Calderon</a:t>
            </a:r>
            <a:r>
              <a:rPr lang="es-PE" sz="1200" dirty="0">
                <a:solidFill>
                  <a:schemeClr val="dk1"/>
                </a:solidFill>
                <a:latin typeface="Times New Roman"/>
                <a:ea typeface="Times New Roman"/>
                <a:cs typeface="Times New Roman"/>
                <a:sym typeface="Times New Roman"/>
              </a:rPr>
              <a:t>, S. M., &amp; Ponce Diaz, R. E. (2022). Sistema de monitoreo para la detección automática de placas de vehículos en Lima Metropolitana utilizando redes neuronales [Tesis de pregrado, Universidad Peruana de Ciencias Aplicadas (UPC)]. Repositorio Académico UPC. </a:t>
            </a:r>
            <a:r>
              <a:rPr lang="es-PE" sz="1200" u="sng" dirty="0">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http://hdl.handle.net/10757/660720</a:t>
            </a:r>
            <a:r>
              <a:rPr lang="es-PE"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r>
              <a:rPr lang="es-PE" sz="1200" dirty="0">
                <a:solidFill>
                  <a:schemeClr val="dk1"/>
                </a:solidFill>
                <a:latin typeface="Times New Roman"/>
                <a:ea typeface="Times New Roman"/>
                <a:cs typeface="Times New Roman"/>
                <a:sym typeface="Times New Roman"/>
              </a:rPr>
              <a:t>Muñoz-</a:t>
            </a:r>
            <a:r>
              <a:rPr lang="es-PE" sz="1200" dirty="0" err="1">
                <a:solidFill>
                  <a:schemeClr val="dk1"/>
                </a:solidFill>
                <a:latin typeface="Times New Roman"/>
                <a:ea typeface="Times New Roman"/>
                <a:cs typeface="Times New Roman"/>
                <a:sym typeface="Times New Roman"/>
              </a:rPr>
              <a:t>Perez</a:t>
            </a:r>
            <a:r>
              <a:rPr lang="es-PE" sz="1200" dirty="0">
                <a:solidFill>
                  <a:schemeClr val="dk1"/>
                </a:solidFill>
                <a:latin typeface="Times New Roman"/>
                <a:ea typeface="Times New Roman"/>
                <a:cs typeface="Times New Roman"/>
                <a:sym typeface="Times New Roman"/>
              </a:rPr>
              <a:t>, J. C., Cedeño-Alcívar, E. L., &amp; Villavicencio-Moreira, C. A. (2024). Búsqueda de patrones con machine </a:t>
            </a:r>
            <a:r>
              <a:rPr lang="es-PE" sz="1200" dirty="0" err="1">
                <a:solidFill>
                  <a:schemeClr val="dk1"/>
                </a:solidFill>
                <a:latin typeface="Times New Roman"/>
                <a:ea typeface="Times New Roman"/>
                <a:cs typeface="Times New Roman"/>
                <a:sym typeface="Times New Roman"/>
              </a:rPr>
              <a:t>learning</a:t>
            </a:r>
            <a:r>
              <a:rPr lang="es-PE" sz="1200" dirty="0">
                <a:solidFill>
                  <a:schemeClr val="dk1"/>
                </a:solidFill>
                <a:latin typeface="Times New Roman"/>
                <a:ea typeface="Times New Roman"/>
                <a:cs typeface="Times New Roman"/>
                <a:sym typeface="Times New Roman"/>
              </a:rPr>
              <a:t> en datos de siniestros de tránsito. Ciencia Latina Revista Científica Multidisciplinar, 8(2), 14923–14942. </a:t>
            </a:r>
            <a:r>
              <a:rPr lang="es-PE" sz="1200" u="sng" dirty="0">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https://doi.org/10.37811/cl_rcm.v8i2.10592</a:t>
            </a:r>
            <a:r>
              <a:rPr lang="es-PE"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r>
              <a:rPr lang="es-PE" sz="1200" dirty="0">
                <a:solidFill>
                  <a:schemeClr val="dk1"/>
                </a:solidFill>
                <a:latin typeface="Times New Roman"/>
                <a:ea typeface="Times New Roman"/>
                <a:cs typeface="Times New Roman"/>
                <a:sym typeface="Times New Roman"/>
              </a:rPr>
              <a:t>N, T. R., &amp; Gupta, R. (2020). A </a:t>
            </a:r>
            <a:r>
              <a:rPr lang="es-PE" sz="1200" dirty="0" err="1">
                <a:solidFill>
                  <a:schemeClr val="dk1"/>
                </a:solidFill>
                <a:latin typeface="Times New Roman"/>
                <a:ea typeface="Times New Roman"/>
                <a:cs typeface="Times New Roman"/>
                <a:sym typeface="Times New Roman"/>
              </a:rPr>
              <a:t>survey</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on</a:t>
            </a:r>
            <a:r>
              <a:rPr lang="es-PE" sz="1200" dirty="0">
                <a:solidFill>
                  <a:schemeClr val="dk1"/>
                </a:solidFill>
                <a:latin typeface="Times New Roman"/>
                <a:ea typeface="Times New Roman"/>
                <a:cs typeface="Times New Roman"/>
                <a:sym typeface="Times New Roman"/>
              </a:rPr>
              <a:t> machine </a:t>
            </a:r>
            <a:r>
              <a:rPr lang="es-PE" sz="1200" dirty="0" err="1">
                <a:solidFill>
                  <a:schemeClr val="dk1"/>
                </a:solidFill>
                <a:latin typeface="Times New Roman"/>
                <a:ea typeface="Times New Roman"/>
                <a:cs typeface="Times New Roman"/>
                <a:sym typeface="Times New Roman"/>
              </a:rPr>
              <a:t>learning</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approaches</a:t>
            </a:r>
            <a:r>
              <a:rPr lang="es-PE" sz="1200" dirty="0">
                <a:solidFill>
                  <a:schemeClr val="dk1"/>
                </a:solidFill>
                <a:latin typeface="Times New Roman"/>
                <a:ea typeface="Times New Roman"/>
                <a:cs typeface="Times New Roman"/>
                <a:sym typeface="Times New Roman"/>
              </a:rPr>
              <a:t> and </a:t>
            </a:r>
            <a:r>
              <a:rPr lang="es-PE" sz="1200" dirty="0" err="1">
                <a:solidFill>
                  <a:schemeClr val="dk1"/>
                </a:solidFill>
                <a:latin typeface="Times New Roman"/>
                <a:ea typeface="Times New Roman"/>
                <a:cs typeface="Times New Roman"/>
                <a:sym typeface="Times New Roman"/>
              </a:rPr>
              <a:t>its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techniques</a:t>
            </a:r>
            <a:r>
              <a:rPr lang="es-PE" sz="1200" dirty="0">
                <a:solidFill>
                  <a:schemeClr val="dk1"/>
                </a:solidFill>
                <a:latin typeface="Times New Roman"/>
                <a:ea typeface="Times New Roman"/>
                <a:cs typeface="Times New Roman"/>
                <a:sym typeface="Times New Roman"/>
              </a:rPr>
              <a:t>. En 2020 IEEE International </a:t>
            </a:r>
            <a:r>
              <a:rPr lang="es-PE" sz="1200" dirty="0" err="1">
                <a:solidFill>
                  <a:schemeClr val="dk1"/>
                </a:solidFill>
                <a:latin typeface="Times New Roman"/>
                <a:ea typeface="Times New Roman"/>
                <a:cs typeface="Times New Roman"/>
                <a:sym typeface="Times New Roman"/>
              </a:rPr>
              <a:t>Students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Conference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Electrical</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Electronics</a:t>
            </a:r>
            <a:r>
              <a:rPr lang="es-PE" sz="1200" dirty="0">
                <a:solidFill>
                  <a:schemeClr val="dk1"/>
                </a:solidFill>
                <a:latin typeface="Times New Roman"/>
                <a:ea typeface="Times New Roman"/>
                <a:cs typeface="Times New Roman"/>
                <a:sym typeface="Times New Roman"/>
              </a:rPr>
              <a:t> and </a:t>
            </a:r>
            <a:r>
              <a:rPr lang="es-PE" sz="1200" dirty="0" err="1">
                <a:solidFill>
                  <a:schemeClr val="dk1"/>
                </a:solidFill>
                <a:latin typeface="Times New Roman"/>
                <a:ea typeface="Times New Roman"/>
                <a:cs typeface="Times New Roman"/>
                <a:sym typeface="Times New Roman"/>
              </a:rPr>
              <a:t>Computer</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Science</a:t>
            </a:r>
            <a:r>
              <a:rPr lang="es-PE" sz="1200" dirty="0">
                <a:solidFill>
                  <a:schemeClr val="dk1"/>
                </a:solidFill>
                <a:latin typeface="Times New Roman"/>
                <a:ea typeface="Times New Roman"/>
                <a:cs typeface="Times New Roman"/>
                <a:sym typeface="Times New Roman"/>
              </a:rPr>
              <a:t> (SCEECS) (pp. 1–6). IEEE. </a:t>
            </a:r>
            <a:r>
              <a:rPr lang="es-PE" sz="1200" u="sng" dirty="0">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https://doi.org/10.1109/SCEECS48394.2020.190</a:t>
            </a:r>
            <a:r>
              <a:rPr lang="es-PE" sz="1200" dirty="0">
                <a:solidFill>
                  <a:schemeClr val="dk1"/>
                </a:solidFill>
                <a:latin typeface="Times New Roman"/>
                <a:ea typeface="Times New Roman"/>
                <a:cs typeface="Times New Roman"/>
                <a:sym typeface="Times New Roman"/>
              </a:rPr>
              <a:t> </a:t>
            </a:r>
            <a:endParaRPr dirty="0"/>
          </a:p>
        </p:txBody>
      </p:sp>
      <p:sp>
        <p:nvSpPr>
          <p:cNvPr id="380" name="Google Shape;380;g37264e0fb3e_0_27"/>
          <p:cNvSpPr txBox="1"/>
          <p:nvPr/>
        </p:nvSpPr>
        <p:spPr>
          <a:xfrm>
            <a:off x="641211" y="3653550"/>
            <a:ext cx="11319263" cy="3277790"/>
          </a:xfrm>
          <a:prstGeom prst="rect">
            <a:avLst/>
          </a:prstGeom>
          <a:noFill/>
          <a:ln>
            <a:noFill/>
          </a:ln>
        </p:spPr>
        <p:txBody>
          <a:bodyPr spcFirstLastPara="1" wrap="square" lIns="91425" tIns="91425" rIns="91425" bIns="91425" anchor="t" anchorCtr="0">
            <a:spAutoFit/>
          </a:bodyPr>
          <a:lstStyle/>
          <a:p>
            <a:pPr marL="457200" lvl="0" indent="-457200" algn="l" rtl="0">
              <a:lnSpc>
                <a:spcPct val="150000"/>
              </a:lnSpc>
              <a:spcBef>
                <a:spcPts val="0"/>
              </a:spcBef>
              <a:spcAft>
                <a:spcPts val="0"/>
              </a:spcAft>
              <a:buNone/>
            </a:pPr>
            <a:r>
              <a:rPr lang="es-PE" sz="1200" dirty="0" err="1">
                <a:solidFill>
                  <a:schemeClr val="dk1"/>
                </a:solidFill>
                <a:latin typeface="Times New Roman"/>
                <a:ea typeface="Times New Roman"/>
                <a:cs typeface="Times New Roman"/>
                <a:sym typeface="Times New Roman"/>
              </a:rPr>
              <a:t>National</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Highway</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Traffic</a:t>
            </a:r>
            <a:r>
              <a:rPr lang="es-PE" sz="1200" dirty="0">
                <a:solidFill>
                  <a:schemeClr val="dk1"/>
                </a:solidFill>
                <a:latin typeface="Times New Roman"/>
                <a:ea typeface="Times New Roman"/>
                <a:cs typeface="Times New Roman"/>
                <a:sym typeface="Times New Roman"/>
              </a:rPr>
              <a:t> Safety </a:t>
            </a:r>
            <a:r>
              <a:rPr lang="es-PE" sz="1200" dirty="0" err="1">
                <a:solidFill>
                  <a:schemeClr val="dk1"/>
                </a:solidFill>
                <a:latin typeface="Times New Roman"/>
                <a:ea typeface="Times New Roman"/>
                <a:cs typeface="Times New Roman"/>
                <a:sym typeface="Times New Roman"/>
              </a:rPr>
              <a:t>Administration</a:t>
            </a:r>
            <a:r>
              <a:rPr lang="es-PE" sz="1200" dirty="0">
                <a:solidFill>
                  <a:schemeClr val="dk1"/>
                </a:solidFill>
                <a:latin typeface="Times New Roman"/>
                <a:ea typeface="Times New Roman"/>
                <a:cs typeface="Times New Roman"/>
                <a:sym typeface="Times New Roman"/>
              </a:rPr>
              <a:t> (NHTSA). (2024a, Julio). Passenger </a:t>
            </a:r>
            <a:r>
              <a:rPr lang="es-PE" sz="1200" dirty="0" err="1">
                <a:solidFill>
                  <a:schemeClr val="dk1"/>
                </a:solidFill>
                <a:latin typeface="Times New Roman"/>
                <a:ea typeface="Times New Roman"/>
                <a:cs typeface="Times New Roman"/>
                <a:sym typeface="Times New Roman"/>
              </a:rPr>
              <a:t>Vehicles</a:t>
            </a:r>
            <a:r>
              <a:rPr lang="es-PE" sz="1200" dirty="0">
                <a:solidFill>
                  <a:schemeClr val="dk1"/>
                </a:solidFill>
                <a:latin typeface="Times New Roman"/>
                <a:ea typeface="Times New Roman"/>
                <a:cs typeface="Times New Roman"/>
                <a:sym typeface="Times New Roman"/>
              </a:rPr>
              <a:t>: 2022 Data (</a:t>
            </a:r>
            <a:r>
              <a:rPr lang="es-PE" sz="1200" dirty="0" err="1">
                <a:solidFill>
                  <a:schemeClr val="dk1"/>
                </a:solidFill>
                <a:latin typeface="Times New Roman"/>
                <a:ea typeface="Times New Roman"/>
                <a:cs typeface="Times New Roman"/>
                <a:sym typeface="Times New Roman"/>
              </a:rPr>
              <a:t>Traffic</a:t>
            </a:r>
            <a:r>
              <a:rPr lang="es-PE" sz="1200" dirty="0">
                <a:solidFill>
                  <a:schemeClr val="dk1"/>
                </a:solidFill>
                <a:latin typeface="Times New Roman"/>
                <a:ea typeface="Times New Roman"/>
                <a:cs typeface="Times New Roman"/>
                <a:sym typeface="Times New Roman"/>
              </a:rPr>
              <a:t> Safety </a:t>
            </a:r>
            <a:r>
              <a:rPr lang="es-PE" sz="1200" dirty="0" err="1">
                <a:solidFill>
                  <a:schemeClr val="dk1"/>
                </a:solidFill>
                <a:latin typeface="Times New Roman"/>
                <a:ea typeface="Times New Roman"/>
                <a:cs typeface="Times New Roman"/>
                <a:sym typeface="Times New Roman"/>
              </a:rPr>
              <a:t>Facts</a:t>
            </a:r>
            <a:r>
              <a:rPr lang="es-PE" sz="1200" dirty="0">
                <a:solidFill>
                  <a:schemeClr val="dk1"/>
                </a:solidFill>
                <a:latin typeface="Times New Roman"/>
                <a:ea typeface="Times New Roman"/>
                <a:cs typeface="Times New Roman"/>
                <a:sym typeface="Times New Roman"/>
              </a:rPr>
              <a:t> DOT HS 813 592). U.S. </a:t>
            </a:r>
            <a:r>
              <a:rPr lang="es-PE" sz="1200" dirty="0" err="1">
                <a:solidFill>
                  <a:schemeClr val="dk1"/>
                </a:solidFill>
                <a:latin typeface="Times New Roman"/>
                <a:ea typeface="Times New Roman"/>
                <a:cs typeface="Times New Roman"/>
                <a:sym typeface="Times New Roman"/>
              </a:rPr>
              <a:t>Department</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of</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Transportation</a:t>
            </a:r>
            <a:r>
              <a:rPr lang="es-PE" sz="1200" dirty="0">
                <a:solidFill>
                  <a:schemeClr val="dk1"/>
                </a:solidFill>
                <a:latin typeface="Times New Roman"/>
                <a:ea typeface="Times New Roman"/>
                <a:cs typeface="Times New Roman"/>
                <a:sym typeface="Times New Roman"/>
              </a:rPr>
              <a:t>. </a:t>
            </a:r>
            <a:r>
              <a:rPr lang="es-PE" sz="1200" u="sng" dirty="0">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https://crashstats.nhtsa.dot.gov/Api/Public/Publication/813592</a:t>
            </a:r>
            <a:r>
              <a:rPr lang="es-PE"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r>
              <a:rPr lang="es-PE" sz="1200" dirty="0" err="1">
                <a:solidFill>
                  <a:schemeClr val="dk1"/>
                </a:solidFill>
                <a:latin typeface="Times New Roman"/>
                <a:ea typeface="Times New Roman"/>
                <a:cs typeface="Times New Roman"/>
                <a:sym typeface="Times New Roman"/>
              </a:rPr>
              <a:t>National</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Highway</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Traffic</a:t>
            </a:r>
            <a:r>
              <a:rPr lang="es-PE" sz="1200" dirty="0">
                <a:solidFill>
                  <a:schemeClr val="dk1"/>
                </a:solidFill>
                <a:latin typeface="Times New Roman"/>
                <a:ea typeface="Times New Roman"/>
                <a:cs typeface="Times New Roman"/>
                <a:sym typeface="Times New Roman"/>
              </a:rPr>
              <a:t> Safety </a:t>
            </a:r>
            <a:r>
              <a:rPr lang="es-PE" sz="1200" dirty="0" err="1">
                <a:solidFill>
                  <a:schemeClr val="dk1"/>
                </a:solidFill>
                <a:latin typeface="Times New Roman"/>
                <a:ea typeface="Times New Roman"/>
                <a:cs typeface="Times New Roman"/>
                <a:sym typeface="Times New Roman"/>
              </a:rPr>
              <a:t>Administration</a:t>
            </a:r>
            <a:r>
              <a:rPr lang="es-PE" sz="1200" dirty="0">
                <a:solidFill>
                  <a:schemeClr val="dk1"/>
                </a:solidFill>
                <a:latin typeface="Times New Roman"/>
                <a:ea typeface="Times New Roman"/>
                <a:cs typeface="Times New Roman"/>
                <a:sym typeface="Times New Roman"/>
              </a:rPr>
              <a:t> (NHTSA). (2024b, Abril). </a:t>
            </a:r>
            <a:r>
              <a:rPr lang="es-PE" sz="1200" dirty="0" err="1">
                <a:solidFill>
                  <a:schemeClr val="dk1"/>
                </a:solidFill>
                <a:latin typeface="Times New Roman"/>
                <a:ea typeface="Times New Roman"/>
                <a:cs typeface="Times New Roman"/>
                <a:sym typeface="Times New Roman"/>
              </a:rPr>
              <a:t>Overview</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of</a:t>
            </a:r>
            <a:r>
              <a:rPr lang="es-PE" sz="1200" dirty="0">
                <a:solidFill>
                  <a:schemeClr val="dk1"/>
                </a:solidFill>
                <a:latin typeface="Times New Roman"/>
                <a:ea typeface="Times New Roman"/>
                <a:cs typeface="Times New Roman"/>
                <a:sym typeface="Times New Roman"/>
              </a:rPr>
              <a:t> Motor </a:t>
            </a:r>
            <a:r>
              <a:rPr lang="es-PE" sz="1200" dirty="0" err="1">
                <a:solidFill>
                  <a:schemeClr val="dk1"/>
                </a:solidFill>
                <a:latin typeface="Times New Roman"/>
                <a:ea typeface="Times New Roman"/>
                <a:cs typeface="Times New Roman"/>
                <a:sym typeface="Times New Roman"/>
              </a:rPr>
              <a:t>Vehicle</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Traffic</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Crashes</a:t>
            </a:r>
            <a:r>
              <a:rPr lang="es-PE" sz="1200" dirty="0">
                <a:solidFill>
                  <a:schemeClr val="dk1"/>
                </a:solidFill>
                <a:latin typeface="Times New Roman"/>
                <a:ea typeface="Times New Roman"/>
                <a:cs typeface="Times New Roman"/>
                <a:sym typeface="Times New Roman"/>
              </a:rPr>
              <a:t> in 2022 (</a:t>
            </a:r>
            <a:r>
              <a:rPr lang="es-PE" sz="1200" dirty="0" err="1">
                <a:solidFill>
                  <a:schemeClr val="dk1"/>
                </a:solidFill>
                <a:latin typeface="Times New Roman"/>
                <a:ea typeface="Times New Roman"/>
                <a:cs typeface="Times New Roman"/>
                <a:sym typeface="Times New Roman"/>
              </a:rPr>
              <a:t>Traffic</a:t>
            </a:r>
            <a:r>
              <a:rPr lang="es-PE" sz="1200" dirty="0">
                <a:solidFill>
                  <a:schemeClr val="dk1"/>
                </a:solidFill>
                <a:latin typeface="Times New Roman"/>
                <a:ea typeface="Times New Roman"/>
                <a:cs typeface="Times New Roman"/>
                <a:sym typeface="Times New Roman"/>
              </a:rPr>
              <a:t> Safety </a:t>
            </a:r>
            <a:r>
              <a:rPr lang="es-PE" sz="1200" dirty="0" err="1">
                <a:solidFill>
                  <a:schemeClr val="dk1"/>
                </a:solidFill>
                <a:latin typeface="Times New Roman"/>
                <a:ea typeface="Times New Roman"/>
                <a:cs typeface="Times New Roman"/>
                <a:sym typeface="Times New Roman"/>
              </a:rPr>
              <a:t>Facts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Research</a:t>
            </a:r>
            <a:r>
              <a:rPr lang="es-PE" sz="1200" dirty="0">
                <a:solidFill>
                  <a:schemeClr val="dk1"/>
                </a:solidFill>
                <a:latin typeface="Times New Roman"/>
                <a:ea typeface="Times New Roman"/>
                <a:cs typeface="Times New Roman"/>
                <a:sym typeface="Times New Roman"/>
              </a:rPr>
              <a:t> Note DOT HS 813 560). U.S. </a:t>
            </a:r>
            <a:r>
              <a:rPr lang="es-PE" sz="1200" dirty="0" err="1">
                <a:solidFill>
                  <a:schemeClr val="dk1"/>
                </a:solidFill>
                <a:latin typeface="Times New Roman"/>
                <a:ea typeface="Times New Roman"/>
                <a:cs typeface="Times New Roman"/>
                <a:sym typeface="Times New Roman"/>
              </a:rPr>
              <a:t>Department</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of</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Transportation</a:t>
            </a:r>
            <a:r>
              <a:rPr lang="es-PE" sz="1200" dirty="0">
                <a:solidFill>
                  <a:schemeClr val="dk1"/>
                </a:solidFill>
                <a:latin typeface="Times New Roman"/>
                <a:ea typeface="Times New Roman"/>
                <a:cs typeface="Times New Roman"/>
                <a:sym typeface="Times New Roman"/>
              </a:rPr>
              <a:t>. </a:t>
            </a:r>
            <a:r>
              <a:rPr lang="es-PE" sz="1200" u="sng" dirty="0">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https://rosap.ntl.bts.gov/view/dot/78044</a:t>
            </a:r>
            <a:r>
              <a:rPr lang="es-PE"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r>
              <a:rPr lang="es-PE" sz="1200" dirty="0" err="1">
                <a:solidFill>
                  <a:schemeClr val="dk1"/>
                </a:solidFill>
                <a:latin typeface="Times New Roman"/>
                <a:ea typeface="Times New Roman"/>
                <a:cs typeface="Times New Roman"/>
                <a:sym typeface="Times New Roman"/>
              </a:rPr>
              <a:t>Norza-Céspedes</a:t>
            </a:r>
            <a:r>
              <a:rPr lang="es-PE" sz="1200" dirty="0">
                <a:solidFill>
                  <a:schemeClr val="dk1"/>
                </a:solidFill>
                <a:latin typeface="Times New Roman"/>
                <a:ea typeface="Times New Roman"/>
                <a:cs typeface="Times New Roman"/>
                <a:sym typeface="Times New Roman"/>
              </a:rPr>
              <a:t>, E. H., Useche-Hernández, S. A., Moreno-Rodríguez, J., &amp; Granados-León, E. L. (2014). Componentes descriptivos y explicativos de la accidentalidad vial en Colombia: incidencia del factor humano. </a:t>
            </a:r>
            <a:r>
              <a:rPr lang="es-PE" sz="1200" dirty="0" err="1">
                <a:solidFill>
                  <a:schemeClr val="dk1"/>
                </a:solidFill>
                <a:latin typeface="Times New Roman"/>
                <a:ea typeface="Times New Roman"/>
                <a:cs typeface="Times New Roman"/>
                <a:sym typeface="Times New Roman"/>
              </a:rPr>
              <a:t>Biteca</a:t>
            </a:r>
            <a:r>
              <a:rPr lang="es-PE" sz="1200" dirty="0">
                <a:solidFill>
                  <a:schemeClr val="dk1"/>
                </a:solidFill>
                <a:latin typeface="Times New Roman"/>
                <a:ea typeface="Times New Roman"/>
                <a:cs typeface="Times New Roman"/>
                <a:sym typeface="Times New Roman"/>
              </a:rPr>
              <a:t>, 56(1), 101-119. </a:t>
            </a:r>
            <a:r>
              <a:rPr lang="es-PE" sz="1200" u="sng" dirty="0">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https://acc.org.co/publicaciones/func-startdown/5/</a:t>
            </a:r>
            <a:r>
              <a:rPr lang="es-PE"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r>
              <a:rPr lang="es-PE" sz="1200" dirty="0">
                <a:solidFill>
                  <a:schemeClr val="dk1"/>
                </a:solidFill>
                <a:latin typeface="Times New Roman"/>
                <a:ea typeface="Times New Roman"/>
                <a:cs typeface="Times New Roman"/>
                <a:sym typeface="Times New Roman"/>
              </a:rPr>
              <a:t>Oña, J., </a:t>
            </a:r>
            <a:r>
              <a:rPr lang="es-PE" sz="1200" dirty="0" err="1">
                <a:solidFill>
                  <a:schemeClr val="dk1"/>
                </a:solidFill>
                <a:latin typeface="Times New Roman"/>
                <a:ea typeface="Times New Roman"/>
                <a:cs typeface="Times New Roman"/>
                <a:sym typeface="Times New Roman"/>
              </a:rPr>
              <a:t>Mujalli</a:t>
            </a:r>
            <a:r>
              <a:rPr lang="es-PE" sz="1200" dirty="0">
                <a:solidFill>
                  <a:schemeClr val="dk1"/>
                </a:solidFill>
                <a:latin typeface="Times New Roman"/>
                <a:ea typeface="Times New Roman"/>
                <a:cs typeface="Times New Roman"/>
                <a:sym typeface="Times New Roman"/>
              </a:rPr>
              <a:t>, R. O., &amp; Calvo, F. J. (2011). </a:t>
            </a:r>
            <a:r>
              <a:rPr lang="es-PE" sz="1200" dirty="0" err="1">
                <a:solidFill>
                  <a:schemeClr val="dk1"/>
                </a:solidFill>
                <a:latin typeface="Times New Roman"/>
                <a:ea typeface="Times New Roman"/>
                <a:cs typeface="Times New Roman"/>
                <a:sym typeface="Times New Roman"/>
              </a:rPr>
              <a:t>Analysis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of</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traffic</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accident</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injury</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severity</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Spanish</a:t>
            </a:r>
            <a:r>
              <a:rPr lang="es-PE" sz="1200" dirty="0">
                <a:solidFill>
                  <a:schemeClr val="dk1"/>
                </a:solidFill>
                <a:latin typeface="Times New Roman"/>
                <a:ea typeface="Times New Roman"/>
                <a:cs typeface="Times New Roman"/>
                <a:sym typeface="Times New Roman"/>
              </a:rPr>
              <a:t> rural </a:t>
            </a:r>
            <a:r>
              <a:rPr lang="es-PE" sz="1200" dirty="0" err="1">
                <a:solidFill>
                  <a:schemeClr val="dk1"/>
                </a:solidFill>
                <a:latin typeface="Times New Roman"/>
                <a:ea typeface="Times New Roman"/>
                <a:cs typeface="Times New Roman"/>
                <a:sym typeface="Times New Roman"/>
              </a:rPr>
              <a:t>highways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using</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Bayesian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networks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Accident</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Analysis</a:t>
            </a:r>
            <a:r>
              <a:rPr lang="es-PE" sz="1200" dirty="0">
                <a:solidFill>
                  <a:schemeClr val="dk1"/>
                </a:solidFill>
                <a:latin typeface="Times New Roman"/>
                <a:ea typeface="Times New Roman"/>
                <a:cs typeface="Times New Roman"/>
                <a:sym typeface="Times New Roman"/>
              </a:rPr>
              <a:t> and </a:t>
            </a:r>
            <a:r>
              <a:rPr lang="es-PE" sz="1200" dirty="0" err="1">
                <a:solidFill>
                  <a:schemeClr val="dk1"/>
                </a:solidFill>
                <a:latin typeface="Times New Roman"/>
                <a:ea typeface="Times New Roman"/>
                <a:cs typeface="Times New Roman"/>
                <a:sym typeface="Times New Roman"/>
              </a:rPr>
              <a:t>Prevention</a:t>
            </a:r>
            <a:r>
              <a:rPr lang="es-PE" sz="1200" dirty="0">
                <a:solidFill>
                  <a:schemeClr val="dk1"/>
                </a:solidFill>
                <a:latin typeface="Times New Roman"/>
                <a:ea typeface="Times New Roman"/>
                <a:cs typeface="Times New Roman"/>
                <a:sym typeface="Times New Roman"/>
              </a:rPr>
              <a:t>, 43(1), 402–411. </a:t>
            </a:r>
            <a:r>
              <a:rPr lang="es-PE" sz="1200" u="sng" dirty="0">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http://hdl.handle.net/10481/24401</a:t>
            </a:r>
            <a:r>
              <a:rPr lang="es-PE"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r>
              <a:rPr lang="es-PE" sz="1200" dirty="0" err="1">
                <a:solidFill>
                  <a:schemeClr val="dk1"/>
                </a:solidFill>
                <a:latin typeface="Times New Roman"/>
                <a:ea typeface="Times New Roman"/>
                <a:cs typeface="Times New Roman"/>
                <a:sym typeface="Times New Roman"/>
              </a:rPr>
              <a:t>Soltani</a:t>
            </a:r>
            <a:r>
              <a:rPr lang="es-PE" sz="1200" dirty="0">
                <a:solidFill>
                  <a:schemeClr val="dk1"/>
                </a:solidFill>
                <a:latin typeface="Times New Roman"/>
                <a:ea typeface="Times New Roman"/>
                <a:cs typeface="Times New Roman"/>
                <a:sym typeface="Times New Roman"/>
              </a:rPr>
              <a:t>, A., &amp; </a:t>
            </a:r>
            <a:r>
              <a:rPr lang="es-PE" sz="1200" dirty="0" err="1">
                <a:solidFill>
                  <a:schemeClr val="dk1"/>
                </a:solidFill>
                <a:latin typeface="Times New Roman"/>
                <a:ea typeface="Times New Roman"/>
                <a:cs typeface="Times New Roman"/>
                <a:sym typeface="Times New Roman"/>
              </a:rPr>
              <a:t>Askari</a:t>
            </a:r>
            <a:r>
              <a:rPr lang="es-PE" sz="1200" dirty="0">
                <a:solidFill>
                  <a:schemeClr val="dk1"/>
                </a:solidFill>
                <a:latin typeface="Times New Roman"/>
                <a:ea typeface="Times New Roman"/>
                <a:cs typeface="Times New Roman"/>
                <a:sym typeface="Times New Roman"/>
              </a:rPr>
              <a:t>, S. (2014). </a:t>
            </a:r>
            <a:r>
              <a:rPr lang="es-PE" sz="1200" dirty="0" err="1">
                <a:solidFill>
                  <a:schemeClr val="dk1"/>
                </a:solidFill>
                <a:latin typeface="Times New Roman"/>
                <a:ea typeface="Times New Roman"/>
                <a:cs typeface="Times New Roman"/>
                <a:sym typeface="Times New Roman"/>
              </a:rPr>
              <a:t>Analysis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of</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intra-urban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traffic</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accidents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using</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spatiotemporal</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visualization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techniques</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Transport</a:t>
            </a:r>
            <a:r>
              <a:rPr lang="es-PE" sz="1200" dirty="0">
                <a:solidFill>
                  <a:schemeClr val="dk1"/>
                </a:solidFill>
                <a:latin typeface="Times New Roman"/>
                <a:ea typeface="Times New Roman"/>
                <a:cs typeface="Times New Roman"/>
                <a:sym typeface="Times New Roman"/>
              </a:rPr>
              <a:t> and </a:t>
            </a:r>
            <a:r>
              <a:rPr lang="es-PE" sz="1200" dirty="0" err="1">
                <a:solidFill>
                  <a:schemeClr val="dk1"/>
                </a:solidFill>
                <a:latin typeface="Times New Roman"/>
                <a:ea typeface="Times New Roman"/>
                <a:cs typeface="Times New Roman"/>
                <a:sym typeface="Times New Roman"/>
              </a:rPr>
              <a:t>Telecommunication</a:t>
            </a:r>
            <a:r>
              <a:rPr lang="es-PE" sz="1200" dirty="0">
                <a:solidFill>
                  <a:schemeClr val="dk1"/>
                </a:solidFill>
                <a:latin typeface="Times New Roman"/>
                <a:ea typeface="Times New Roman"/>
                <a:cs typeface="Times New Roman"/>
                <a:sym typeface="Times New Roman"/>
              </a:rPr>
              <a:t> </a:t>
            </a:r>
            <a:r>
              <a:rPr lang="es-PE" sz="1200" dirty="0" err="1">
                <a:solidFill>
                  <a:schemeClr val="dk1"/>
                </a:solidFill>
                <a:latin typeface="Times New Roman"/>
                <a:ea typeface="Times New Roman"/>
                <a:cs typeface="Times New Roman"/>
                <a:sym typeface="Times New Roman"/>
              </a:rPr>
              <a:t>Journal</a:t>
            </a:r>
            <a:r>
              <a:rPr lang="es-PE" sz="1200" dirty="0">
                <a:solidFill>
                  <a:schemeClr val="dk1"/>
                </a:solidFill>
                <a:latin typeface="Times New Roman"/>
                <a:ea typeface="Times New Roman"/>
                <a:cs typeface="Times New Roman"/>
                <a:sym typeface="Times New Roman"/>
              </a:rPr>
              <a:t>, 15(3), 227–232. </a:t>
            </a:r>
            <a:r>
              <a:rPr lang="es-PE" sz="1200" u="sng" dirty="0">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https://doi.org/10.2478/ttj-2014-0020</a:t>
            </a:r>
            <a:r>
              <a:rPr lang="es-PE" sz="1200" dirty="0">
                <a:solidFill>
                  <a:schemeClr val="dk1"/>
                </a:solidFill>
                <a:latin typeface="Times New Roman"/>
                <a:ea typeface="Times New Roman"/>
                <a:cs typeface="Times New Roman"/>
                <a:sym typeface="Times New Roman"/>
              </a:rPr>
              <a:t> </a:t>
            </a:r>
            <a:endParaRPr sz="1200" dirty="0">
              <a:solidFill>
                <a:schemeClr val="dk1"/>
              </a:solidFill>
              <a:latin typeface="Times New Roman"/>
              <a:ea typeface="Times New Roman"/>
              <a:cs typeface="Times New Roman"/>
              <a:sym typeface="Times New Roman"/>
            </a:endParaRPr>
          </a:p>
          <a:p>
            <a:pPr marL="457200" lvl="0" indent="-457200" algn="l" rtl="0">
              <a:lnSpc>
                <a:spcPct val="150000"/>
              </a:lnSpc>
              <a:spcBef>
                <a:spcPts val="0"/>
              </a:spcBef>
              <a:spcAft>
                <a:spcPts val="0"/>
              </a:spcAft>
              <a:buNone/>
            </a:pPr>
            <a:endParaRPr dirty="0"/>
          </a:p>
        </p:txBody>
      </p:sp>
      <p:pic>
        <p:nvPicPr>
          <p:cNvPr id="2" name="Google Shape;46;p1">
            <a:extLst>
              <a:ext uri="{FF2B5EF4-FFF2-40B4-BE49-F238E27FC236}">
                <a16:creationId xmlns:a16="http://schemas.microsoft.com/office/drawing/2014/main" id="{BEE9322F-E968-8005-9D68-4D931DB29F7E}"/>
              </a:ext>
            </a:extLst>
          </p:cNvPr>
          <p:cNvPicPr preferRelativeResize="0"/>
          <p:nvPr/>
        </p:nvPicPr>
        <p:blipFill rotWithShape="1">
          <a:blip r:embed="rId11">
            <a:alphaModFix/>
          </a:blip>
          <a:srcRect b="61363"/>
          <a:stretch>
            <a:fillRect/>
          </a:stretch>
        </p:blipFill>
        <p:spPr>
          <a:xfrm>
            <a:off x="84672" y="79519"/>
            <a:ext cx="6011326" cy="580882"/>
          </a:xfrm>
          <a:prstGeom prst="rect">
            <a:avLst/>
          </a:prstGeom>
          <a:noFill/>
          <a:ln>
            <a:noFill/>
          </a:ln>
        </p:spPr>
      </p:pic>
      <p:grpSp>
        <p:nvGrpSpPr>
          <p:cNvPr id="3" name="Google Shape;64;p2">
            <a:extLst>
              <a:ext uri="{FF2B5EF4-FFF2-40B4-BE49-F238E27FC236}">
                <a16:creationId xmlns:a16="http://schemas.microsoft.com/office/drawing/2014/main" id="{6184C37B-1D39-918A-A23E-252A1019F07E}"/>
              </a:ext>
            </a:extLst>
          </p:cNvPr>
          <p:cNvGrpSpPr/>
          <p:nvPr/>
        </p:nvGrpSpPr>
        <p:grpSpPr>
          <a:xfrm>
            <a:off x="8441327" y="157015"/>
            <a:ext cx="3586983" cy="1393378"/>
            <a:chOff x="8604892" y="0"/>
            <a:chExt cx="3586983" cy="1393378"/>
          </a:xfrm>
        </p:grpSpPr>
        <p:sp>
          <p:nvSpPr>
            <p:cNvPr id="4" name="Google Shape;65;p2">
              <a:extLst>
                <a:ext uri="{FF2B5EF4-FFF2-40B4-BE49-F238E27FC236}">
                  <a16:creationId xmlns:a16="http://schemas.microsoft.com/office/drawing/2014/main" id="{D5EBB409-7AF6-38C8-16B1-33D5894AA09F}"/>
                </a:ext>
              </a:extLst>
            </p:cNvPr>
            <p:cNvSpPr/>
            <p:nvPr/>
          </p:nvSpPr>
          <p:spPr>
            <a:xfrm>
              <a:off x="9576775" y="115678"/>
              <a:ext cx="2615100" cy="127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UNIVERSIDAD NACIONAL</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s-PE" sz="1100" b="1" i="0" u="none" strike="noStrike" cap="none" dirty="0">
                  <a:solidFill>
                    <a:schemeClr val="dk1"/>
                  </a:solidFill>
                  <a:latin typeface="Trebuchet MS"/>
                  <a:ea typeface="Trebuchet MS"/>
                  <a:cs typeface="Trebuchet MS"/>
                  <a:sym typeface="Trebuchet MS"/>
                </a:rPr>
                <a:t> DE CAÑETE</a:t>
              </a:r>
              <a:endParaRPr sz="11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Código: </a:t>
              </a:r>
              <a:r>
                <a:rPr lang="es-PE" sz="1050" b="0" i="0" u="none" strike="noStrike" cap="none" dirty="0">
                  <a:solidFill>
                    <a:schemeClr val="dk1"/>
                  </a:solidFill>
                  <a:latin typeface="Trebuchet MS"/>
                  <a:ea typeface="Trebuchet MS"/>
                  <a:cs typeface="Trebuchet MS"/>
                  <a:sym typeface="Trebuchet MS"/>
                </a:rPr>
                <a:t>F-M01.01-VRA-008</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Revisión: </a:t>
              </a:r>
              <a:r>
                <a:rPr lang="es-PE" sz="1050" b="0" i="0" u="none" strike="noStrike" cap="none" dirty="0">
                  <a:solidFill>
                    <a:schemeClr val="dk1"/>
                  </a:solidFill>
                  <a:latin typeface="Trebuchet MS"/>
                  <a:ea typeface="Trebuchet MS"/>
                  <a:cs typeface="Trebuchet MS"/>
                  <a:sym typeface="Trebuchet MS"/>
                </a:rPr>
                <a:t>02</a:t>
              </a:r>
              <a:endParaRPr sz="1050" b="0" i="0" u="none" strike="noStrike" cap="none" dirty="0">
                <a:solidFill>
                  <a:schemeClr val="dk1"/>
                </a:solidFill>
                <a:latin typeface="Trebuchet MS"/>
                <a:ea typeface="Trebuchet MS"/>
                <a:cs typeface="Trebuchet MS"/>
                <a:sym typeface="Trebuchet MS"/>
              </a:endParaRPr>
            </a:p>
            <a:p>
              <a:pPr marL="0" marR="0" lvl="0" indent="0" algn="just" rtl="0">
                <a:lnSpc>
                  <a:spcPct val="100000"/>
                </a:lnSpc>
                <a:spcBef>
                  <a:spcPts val="0"/>
                </a:spcBef>
                <a:spcAft>
                  <a:spcPts val="0"/>
                </a:spcAft>
                <a:buClr>
                  <a:srgbClr val="000000"/>
                </a:buClr>
                <a:buSzPts val="1200"/>
                <a:buFont typeface="Arial"/>
                <a:buNone/>
              </a:pPr>
              <a:r>
                <a:rPr lang="es-PE" sz="1050" b="1" i="0" u="none" strike="noStrike" cap="none" dirty="0">
                  <a:solidFill>
                    <a:schemeClr val="dk1"/>
                  </a:solidFill>
                  <a:latin typeface="Trebuchet MS"/>
                  <a:ea typeface="Trebuchet MS"/>
                  <a:cs typeface="Trebuchet MS"/>
                  <a:sym typeface="Trebuchet MS"/>
                </a:rPr>
                <a:t>Fecha de aprobación: </a:t>
              </a:r>
              <a:r>
                <a:rPr lang="es-PE" sz="1050" dirty="0">
                  <a:solidFill>
                    <a:schemeClr val="dk1"/>
                  </a:solidFill>
                  <a:latin typeface="Trebuchet MS"/>
                  <a:ea typeface="Trebuchet MS"/>
                  <a:cs typeface="Trebuchet MS"/>
                  <a:sym typeface="Trebuchet MS"/>
                </a:rPr>
                <a:t>17</a:t>
              </a:r>
              <a:r>
                <a:rPr lang="es-PE" sz="1050" b="0" i="0" u="none" strike="noStrike" cap="none" dirty="0">
                  <a:solidFill>
                    <a:schemeClr val="dk1"/>
                  </a:solidFill>
                  <a:latin typeface="Trebuchet MS"/>
                  <a:ea typeface="Trebuchet MS"/>
                  <a:cs typeface="Trebuchet MS"/>
                  <a:sym typeface="Trebuchet MS"/>
                </a:rPr>
                <a:t>/11/2025</a:t>
              </a:r>
              <a:endParaRPr sz="1100" b="0" i="0" u="none" strike="noStrike" cap="none" dirty="0">
                <a:solidFill>
                  <a:schemeClr val="dk1"/>
                </a:solidFill>
                <a:latin typeface="Trebuchet MS"/>
                <a:ea typeface="Trebuchet MS"/>
                <a:cs typeface="Trebuchet MS"/>
                <a:sym typeface="Trebuchet MS"/>
              </a:endParaRPr>
            </a:p>
          </p:txBody>
        </p:sp>
        <p:grpSp>
          <p:nvGrpSpPr>
            <p:cNvPr id="5" name="Google Shape;66;p2">
              <a:extLst>
                <a:ext uri="{FF2B5EF4-FFF2-40B4-BE49-F238E27FC236}">
                  <a16:creationId xmlns:a16="http://schemas.microsoft.com/office/drawing/2014/main" id="{C1CE9EBC-9F78-6B9C-9DA9-3BD11136B3CF}"/>
                </a:ext>
              </a:extLst>
            </p:cNvPr>
            <p:cNvGrpSpPr/>
            <p:nvPr/>
          </p:nvGrpSpPr>
          <p:grpSpPr>
            <a:xfrm>
              <a:off x="8604892" y="0"/>
              <a:ext cx="997308" cy="1069887"/>
              <a:chOff x="8604892" y="0"/>
              <a:chExt cx="997308" cy="1069887"/>
            </a:xfrm>
          </p:grpSpPr>
          <p:pic>
            <p:nvPicPr>
              <p:cNvPr id="6" name="Google Shape;67;p2">
                <a:extLst>
                  <a:ext uri="{FF2B5EF4-FFF2-40B4-BE49-F238E27FC236}">
                    <a16:creationId xmlns:a16="http://schemas.microsoft.com/office/drawing/2014/main" id="{7B4CC118-C45F-9977-D18E-7998869825D8}"/>
                  </a:ext>
                </a:extLst>
              </p:cNvPr>
              <p:cNvPicPr preferRelativeResize="0"/>
              <p:nvPr/>
            </p:nvPicPr>
            <p:blipFill rotWithShape="1">
              <a:blip r:embed="rId12">
                <a:alphaModFix/>
              </a:blip>
              <a:srcRect/>
              <a:stretch/>
            </p:blipFill>
            <p:spPr>
              <a:xfrm>
                <a:off x="8604892" y="115678"/>
                <a:ext cx="887608" cy="954209"/>
              </a:xfrm>
              <a:prstGeom prst="rect">
                <a:avLst/>
              </a:prstGeom>
              <a:noFill/>
              <a:ln>
                <a:noFill/>
              </a:ln>
            </p:spPr>
          </p:pic>
          <p:cxnSp>
            <p:nvCxnSpPr>
              <p:cNvPr id="7" name="Google Shape;68;p2">
                <a:extLst>
                  <a:ext uri="{FF2B5EF4-FFF2-40B4-BE49-F238E27FC236}">
                    <a16:creationId xmlns:a16="http://schemas.microsoft.com/office/drawing/2014/main" id="{BBDDA484-58DC-CB6A-F3BC-799AD983C268}"/>
                  </a:ext>
                </a:extLst>
              </p:cNvPr>
              <p:cNvCxnSpPr/>
              <p:nvPr/>
            </p:nvCxnSpPr>
            <p:spPr>
              <a:xfrm>
                <a:off x="9602200" y="0"/>
                <a:ext cx="0" cy="1033409"/>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254"/>
                  </a:srgbClr>
                </a:outerShdw>
              </a:effectLst>
            </p:spPr>
          </p:cxnSp>
        </p:grpSp>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TotalTime>
  <Words>3467</Words>
  <Application>Microsoft Office PowerPoint</Application>
  <PresentationFormat>Panorámica</PresentationFormat>
  <Paragraphs>270</Paragraphs>
  <Slides>22</Slides>
  <Notes>22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22</vt:i4>
      </vt:variant>
    </vt:vector>
  </HeadingPairs>
  <TitlesOfParts>
    <vt:vector size="28" baseType="lpstr">
      <vt:lpstr>Calibri</vt:lpstr>
      <vt:lpstr>Arial</vt:lpstr>
      <vt:lpstr>Arial Black</vt:lpstr>
      <vt:lpstr>Trebuchet MS</vt:lpstr>
      <vt:lpstr>Times New Roman</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josé luis talledo reyes</dc:creator>
  <cp:lastModifiedBy>Nik Denilson Ramirez Bautista</cp:lastModifiedBy>
  <cp:revision>2</cp:revision>
  <dcterms:created xsi:type="dcterms:W3CDTF">2014-12-24T13:30:46Z</dcterms:created>
  <dcterms:modified xsi:type="dcterms:W3CDTF">2025-11-18T16:00:49Z</dcterms:modified>
</cp:coreProperties>
</file>